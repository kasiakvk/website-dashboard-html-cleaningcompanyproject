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7556500" cy="10693400"/>
  <p:notesSz cx="6875463" cy="9186863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1" d="100"/>
          <a:sy n="91" d="100"/>
        </p:scale>
        <p:origin x="1420" y="-16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9738" cy="460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4138" y="0"/>
            <a:ext cx="2979737" cy="460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AD30D6-50F1-4239-A3FB-B69094EDA601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41563" y="1147763"/>
            <a:ext cx="2192337" cy="3100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388" y="4421188"/>
            <a:ext cx="5500687" cy="36179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26488"/>
            <a:ext cx="2979738" cy="460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4138" y="8726488"/>
            <a:ext cx="2979737" cy="460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9C22FB-661B-42EF-88DE-14DA8FDBB4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3187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20C6A8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Newcastle</a:t>
            </a:r>
            <a:r>
              <a:rPr spc="285" dirty="0"/>
              <a:t> </a:t>
            </a:r>
            <a:r>
              <a:rPr spc="50" dirty="0"/>
              <a:t>|</a:t>
            </a:r>
            <a:r>
              <a:rPr spc="285" dirty="0"/>
              <a:t> </a:t>
            </a:r>
            <a:r>
              <a:rPr spc="85" dirty="0"/>
              <a:t>Gateshead</a:t>
            </a:r>
            <a:r>
              <a:rPr spc="285" dirty="0"/>
              <a:t> </a:t>
            </a:r>
            <a:r>
              <a:rPr spc="50" dirty="0"/>
              <a:t>|</a:t>
            </a:r>
            <a:r>
              <a:rPr spc="285" dirty="0"/>
              <a:t> </a:t>
            </a:r>
            <a:r>
              <a:rPr spc="65" dirty="0"/>
              <a:t>Chester-</a:t>
            </a:r>
            <a:r>
              <a:rPr spc="50" dirty="0"/>
              <a:t>le-</a:t>
            </a:r>
            <a:r>
              <a:rPr spc="60" dirty="0"/>
              <a:t>Street</a:t>
            </a:r>
            <a:r>
              <a:rPr spc="285" dirty="0"/>
              <a:t> </a:t>
            </a:r>
            <a:r>
              <a:rPr spc="50" dirty="0"/>
              <a:t>|</a:t>
            </a:r>
            <a:r>
              <a:rPr spc="285" dirty="0"/>
              <a:t> </a:t>
            </a:r>
            <a:r>
              <a:rPr spc="70" dirty="0"/>
              <a:t>Durham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7180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20" dirty="0"/>
              <a:t>Payment</a:t>
            </a:r>
            <a:r>
              <a:rPr spc="45" dirty="0"/>
              <a:t> </a:t>
            </a:r>
            <a:r>
              <a:rPr spc="114" dirty="0"/>
              <a:t>due</a:t>
            </a:r>
            <a:r>
              <a:rPr spc="45" dirty="0"/>
              <a:t> </a:t>
            </a:r>
            <a:r>
              <a:rPr spc="75" dirty="0"/>
              <a:t>within</a:t>
            </a:r>
            <a:r>
              <a:rPr spc="45" dirty="0"/>
              <a:t> </a:t>
            </a:r>
            <a:r>
              <a:rPr spc="120" dirty="0"/>
              <a:t>14</a:t>
            </a:r>
            <a:r>
              <a:rPr spc="45" dirty="0"/>
              <a:t> </a:t>
            </a:r>
            <a:r>
              <a:rPr spc="125" dirty="0"/>
              <a:t>days</a:t>
            </a:r>
            <a:r>
              <a:rPr spc="45" dirty="0"/>
              <a:t> </a:t>
            </a:r>
            <a:r>
              <a:rPr spc="65" dirty="0"/>
              <a:t>of</a:t>
            </a:r>
            <a:r>
              <a:rPr spc="45" dirty="0"/>
              <a:t> </a:t>
            </a:r>
            <a:r>
              <a:rPr spc="85" dirty="0"/>
              <a:t>invoice</a:t>
            </a:r>
            <a:r>
              <a:rPr spc="45" dirty="0"/>
              <a:t> </a:t>
            </a:r>
            <a:r>
              <a:rPr spc="95" dirty="0"/>
              <a:t>date.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20C6A8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Newcastle</a:t>
            </a:r>
            <a:r>
              <a:rPr spc="285" dirty="0"/>
              <a:t> </a:t>
            </a:r>
            <a:r>
              <a:rPr spc="50" dirty="0"/>
              <a:t>|</a:t>
            </a:r>
            <a:r>
              <a:rPr spc="285" dirty="0"/>
              <a:t> </a:t>
            </a:r>
            <a:r>
              <a:rPr spc="85" dirty="0"/>
              <a:t>Gateshead</a:t>
            </a:r>
            <a:r>
              <a:rPr spc="285" dirty="0"/>
              <a:t> </a:t>
            </a:r>
            <a:r>
              <a:rPr spc="50" dirty="0"/>
              <a:t>|</a:t>
            </a:r>
            <a:r>
              <a:rPr spc="285" dirty="0"/>
              <a:t> </a:t>
            </a:r>
            <a:r>
              <a:rPr spc="65" dirty="0"/>
              <a:t>Chester-</a:t>
            </a:r>
            <a:r>
              <a:rPr spc="50" dirty="0"/>
              <a:t>le-</a:t>
            </a:r>
            <a:r>
              <a:rPr spc="60" dirty="0"/>
              <a:t>Street</a:t>
            </a:r>
            <a:r>
              <a:rPr spc="285" dirty="0"/>
              <a:t> </a:t>
            </a:r>
            <a:r>
              <a:rPr spc="50" dirty="0"/>
              <a:t>|</a:t>
            </a:r>
            <a:r>
              <a:rPr spc="285" dirty="0"/>
              <a:t> </a:t>
            </a:r>
            <a:r>
              <a:rPr spc="70" dirty="0"/>
              <a:t>Durham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7180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20" dirty="0"/>
              <a:t>Payment</a:t>
            </a:r>
            <a:r>
              <a:rPr spc="45" dirty="0"/>
              <a:t> </a:t>
            </a:r>
            <a:r>
              <a:rPr spc="114" dirty="0"/>
              <a:t>due</a:t>
            </a:r>
            <a:r>
              <a:rPr spc="45" dirty="0"/>
              <a:t> </a:t>
            </a:r>
            <a:r>
              <a:rPr spc="75" dirty="0"/>
              <a:t>within</a:t>
            </a:r>
            <a:r>
              <a:rPr spc="45" dirty="0"/>
              <a:t> </a:t>
            </a:r>
            <a:r>
              <a:rPr spc="120" dirty="0"/>
              <a:t>14</a:t>
            </a:r>
            <a:r>
              <a:rPr spc="45" dirty="0"/>
              <a:t> </a:t>
            </a:r>
            <a:r>
              <a:rPr spc="125" dirty="0"/>
              <a:t>days</a:t>
            </a:r>
            <a:r>
              <a:rPr spc="45" dirty="0"/>
              <a:t> </a:t>
            </a:r>
            <a:r>
              <a:rPr spc="65" dirty="0"/>
              <a:t>of</a:t>
            </a:r>
            <a:r>
              <a:rPr spc="45" dirty="0"/>
              <a:t> </a:t>
            </a:r>
            <a:r>
              <a:rPr spc="85" dirty="0"/>
              <a:t>invoice</a:t>
            </a:r>
            <a:r>
              <a:rPr spc="45" dirty="0"/>
              <a:t> </a:t>
            </a:r>
            <a:r>
              <a:rPr spc="95" dirty="0"/>
              <a:t>date.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20C6A8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Newcastle</a:t>
            </a:r>
            <a:r>
              <a:rPr spc="285" dirty="0"/>
              <a:t> </a:t>
            </a:r>
            <a:r>
              <a:rPr spc="50" dirty="0"/>
              <a:t>|</a:t>
            </a:r>
            <a:r>
              <a:rPr spc="285" dirty="0"/>
              <a:t> </a:t>
            </a:r>
            <a:r>
              <a:rPr spc="85" dirty="0"/>
              <a:t>Gateshead</a:t>
            </a:r>
            <a:r>
              <a:rPr spc="285" dirty="0"/>
              <a:t> </a:t>
            </a:r>
            <a:r>
              <a:rPr spc="50" dirty="0"/>
              <a:t>|</a:t>
            </a:r>
            <a:r>
              <a:rPr spc="285" dirty="0"/>
              <a:t> </a:t>
            </a:r>
            <a:r>
              <a:rPr spc="65" dirty="0"/>
              <a:t>Chester-</a:t>
            </a:r>
            <a:r>
              <a:rPr spc="50" dirty="0"/>
              <a:t>le-</a:t>
            </a:r>
            <a:r>
              <a:rPr spc="60" dirty="0"/>
              <a:t>Street</a:t>
            </a:r>
            <a:r>
              <a:rPr spc="285" dirty="0"/>
              <a:t> </a:t>
            </a:r>
            <a:r>
              <a:rPr spc="50" dirty="0"/>
              <a:t>|</a:t>
            </a:r>
            <a:r>
              <a:rPr spc="285" dirty="0"/>
              <a:t> </a:t>
            </a:r>
            <a:r>
              <a:rPr spc="70" dirty="0"/>
              <a:t>Durham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7180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20" dirty="0"/>
              <a:t>Payment</a:t>
            </a:r>
            <a:r>
              <a:rPr spc="45" dirty="0"/>
              <a:t> </a:t>
            </a:r>
            <a:r>
              <a:rPr spc="114" dirty="0"/>
              <a:t>due</a:t>
            </a:r>
            <a:r>
              <a:rPr spc="45" dirty="0"/>
              <a:t> </a:t>
            </a:r>
            <a:r>
              <a:rPr spc="75" dirty="0"/>
              <a:t>within</a:t>
            </a:r>
            <a:r>
              <a:rPr spc="45" dirty="0"/>
              <a:t> </a:t>
            </a:r>
            <a:r>
              <a:rPr spc="120" dirty="0"/>
              <a:t>14</a:t>
            </a:r>
            <a:r>
              <a:rPr spc="45" dirty="0"/>
              <a:t> </a:t>
            </a:r>
            <a:r>
              <a:rPr spc="125" dirty="0"/>
              <a:t>days</a:t>
            </a:r>
            <a:r>
              <a:rPr spc="45" dirty="0"/>
              <a:t> </a:t>
            </a:r>
            <a:r>
              <a:rPr spc="65" dirty="0"/>
              <a:t>of</a:t>
            </a:r>
            <a:r>
              <a:rPr spc="45" dirty="0"/>
              <a:t> </a:t>
            </a:r>
            <a:r>
              <a:rPr spc="85" dirty="0"/>
              <a:t>invoice</a:t>
            </a:r>
            <a:r>
              <a:rPr spc="45" dirty="0"/>
              <a:t> </a:t>
            </a:r>
            <a:r>
              <a:rPr spc="95" dirty="0"/>
              <a:t>date.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20C6A8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Newcastle</a:t>
            </a:r>
            <a:r>
              <a:rPr spc="285" dirty="0"/>
              <a:t> </a:t>
            </a:r>
            <a:r>
              <a:rPr spc="50" dirty="0"/>
              <a:t>|</a:t>
            </a:r>
            <a:r>
              <a:rPr spc="285" dirty="0"/>
              <a:t> </a:t>
            </a:r>
            <a:r>
              <a:rPr spc="85" dirty="0"/>
              <a:t>Gateshead</a:t>
            </a:r>
            <a:r>
              <a:rPr spc="285" dirty="0"/>
              <a:t> </a:t>
            </a:r>
            <a:r>
              <a:rPr spc="50" dirty="0"/>
              <a:t>|</a:t>
            </a:r>
            <a:r>
              <a:rPr spc="285" dirty="0"/>
              <a:t> </a:t>
            </a:r>
            <a:r>
              <a:rPr spc="65" dirty="0"/>
              <a:t>Chester-</a:t>
            </a:r>
            <a:r>
              <a:rPr spc="50" dirty="0"/>
              <a:t>le-</a:t>
            </a:r>
            <a:r>
              <a:rPr spc="60" dirty="0"/>
              <a:t>Street</a:t>
            </a:r>
            <a:r>
              <a:rPr spc="285" dirty="0"/>
              <a:t> </a:t>
            </a:r>
            <a:r>
              <a:rPr spc="50" dirty="0"/>
              <a:t>|</a:t>
            </a:r>
            <a:r>
              <a:rPr spc="285" dirty="0"/>
              <a:t> </a:t>
            </a:r>
            <a:r>
              <a:rPr spc="70" dirty="0"/>
              <a:t>Durham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7180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20" dirty="0"/>
              <a:t>Payment</a:t>
            </a:r>
            <a:r>
              <a:rPr spc="45" dirty="0"/>
              <a:t> </a:t>
            </a:r>
            <a:r>
              <a:rPr spc="114" dirty="0"/>
              <a:t>due</a:t>
            </a:r>
            <a:r>
              <a:rPr spc="45" dirty="0"/>
              <a:t> </a:t>
            </a:r>
            <a:r>
              <a:rPr spc="75" dirty="0"/>
              <a:t>within</a:t>
            </a:r>
            <a:r>
              <a:rPr spc="45" dirty="0"/>
              <a:t> </a:t>
            </a:r>
            <a:r>
              <a:rPr spc="120" dirty="0"/>
              <a:t>14</a:t>
            </a:r>
            <a:r>
              <a:rPr spc="45" dirty="0"/>
              <a:t> </a:t>
            </a:r>
            <a:r>
              <a:rPr spc="125" dirty="0"/>
              <a:t>days</a:t>
            </a:r>
            <a:r>
              <a:rPr spc="45" dirty="0"/>
              <a:t> </a:t>
            </a:r>
            <a:r>
              <a:rPr spc="65" dirty="0"/>
              <a:t>of</a:t>
            </a:r>
            <a:r>
              <a:rPr spc="45" dirty="0"/>
              <a:t> </a:t>
            </a:r>
            <a:r>
              <a:rPr spc="85" dirty="0"/>
              <a:t>invoice</a:t>
            </a:r>
            <a:r>
              <a:rPr spc="45" dirty="0"/>
              <a:t> </a:t>
            </a:r>
            <a:r>
              <a:rPr spc="95" dirty="0"/>
              <a:t>date.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20C6A8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Newcastle</a:t>
            </a:r>
            <a:r>
              <a:rPr spc="285" dirty="0"/>
              <a:t> </a:t>
            </a:r>
            <a:r>
              <a:rPr spc="50" dirty="0"/>
              <a:t>|</a:t>
            </a:r>
            <a:r>
              <a:rPr spc="285" dirty="0"/>
              <a:t> </a:t>
            </a:r>
            <a:r>
              <a:rPr spc="85" dirty="0"/>
              <a:t>Gateshead</a:t>
            </a:r>
            <a:r>
              <a:rPr spc="285" dirty="0"/>
              <a:t> </a:t>
            </a:r>
            <a:r>
              <a:rPr spc="50" dirty="0"/>
              <a:t>|</a:t>
            </a:r>
            <a:r>
              <a:rPr spc="285" dirty="0"/>
              <a:t> </a:t>
            </a:r>
            <a:r>
              <a:rPr spc="65" dirty="0"/>
              <a:t>Chester-</a:t>
            </a:r>
            <a:r>
              <a:rPr spc="50" dirty="0"/>
              <a:t>le-</a:t>
            </a:r>
            <a:r>
              <a:rPr spc="60" dirty="0"/>
              <a:t>Street</a:t>
            </a:r>
            <a:r>
              <a:rPr spc="285" dirty="0"/>
              <a:t> </a:t>
            </a:r>
            <a:r>
              <a:rPr spc="50" dirty="0"/>
              <a:t>|</a:t>
            </a:r>
            <a:r>
              <a:rPr spc="285" dirty="0"/>
              <a:t> </a:t>
            </a:r>
            <a:r>
              <a:rPr spc="70" dirty="0"/>
              <a:t>Durham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7180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20" dirty="0"/>
              <a:t>Payment</a:t>
            </a:r>
            <a:r>
              <a:rPr spc="45" dirty="0"/>
              <a:t> </a:t>
            </a:r>
            <a:r>
              <a:rPr spc="114" dirty="0"/>
              <a:t>due</a:t>
            </a:r>
            <a:r>
              <a:rPr spc="45" dirty="0"/>
              <a:t> </a:t>
            </a:r>
            <a:r>
              <a:rPr spc="75" dirty="0"/>
              <a:t>within</a:t>
            </a:r>
            <a:r>
              <a:rPr spc="45" dirty="0"/>
              <a:t> </a:t>
            </a:r>
            <a:r>
              <a:rPr spc="120" dirty="0"/>
              <a:t>14</a:t>
            </a:r>
            <a:r>
              <a:rPr spc="45" dirty="0"/>
              <a:t> </a:t>
            </a:r>
            <a:r>
              <a:rPr spc="125" dirty="0"/>
              <a:t>days</a:t>
            </a:r>
            <a:r>
              <a:rPr spc="45" dirty="0"/>
              <a:t> </a:t>
            </a:r>
            <a:r>
              <a:rPr spc="65" dirty="0"/>
              <a:t>of</a:t>
            </a:r>
            <a:r>
              <a:rPr spc="45" dirty="0"/>
              <a:t> </a:t>
            </a:r>
            <a:r>
              <a:rPr spc="85" dirty="0"/>
              <a:t>invoice</a:t>
            </a:r>
            <a:r>
              <a:rPr spc="45" dirty="0"/>
              <a:t> </a:t>
            </a:r>
            <a:r>
              <a:rPr spc="95" dirty="0"/>
              <a:t>date.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07997"/>
            <a:ext cx="7560309" cy="3852545"/>
          </a:xfrm>
          <a:custGeom>
            <a:avLst/>
            <a:gdLst/>
            <a:ahLst/>
            <a:cxnLst/>
            <a:rect l="l" t="t" r="r" b="b"/>
            <a:pathLst>
              <a:path w="7560309" h="3852545">
                <a:moveTo>
                  <a:pt x="0" y="3851998"/>
                </a:moveTo>
                <a:lnTo>
                  <a:pt x="7560005" y="3851998"/>
                </a:lnTo>
                <a:lnTo>
                  <a:pt x="7560005" y="0"/>
                </a:lnTo>
                <a:lnTo>
                  <a:pt x="0" y="0"/>
                </a:lnTo>
                <a:lnTo>
                  <a:pt x="0" y="3851998"/>
                </a:lnTo>
                <a:close/>
              </a:path>
            </a:pathLst>
          </a:custGeom>
          <a:solidFill>
            <a:srgbClr val="1522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-2"/>
            <a:ext cx="7560309" cy="108585"/>
          </a:xfrm>
          <a:custGeom>
            <a:avLst/>
            <a:gdLst/>
            <a:ahLst/>
            <a:cxnLst/>
            <a:rect l="l" t="t" r="r" b="b"/>
            <a:pathLst>
              <a:path w="7560309" h="108585">
                <a:moveTo>
                  <a:pt x="7560005" y="0"/>
                </a:moveTo>
                <a:lnTo>
                  <a:pt x="0" y="0"/>
                </a:lnTo>
                <a:lnTo>
                  <a:pt x="0" y="108000"/>
                </a:lnTo>
                <a:lnTo>
                  <a:pt x="7560005" y="108000"/>
                </a:lnTo>
                <a:lnTo>
                  <a:pt x="7560005" y="0"/>
                </a:lnTo>
                <a:close/>
              </a:path>
            </a:pathLst>
          </a:custGeom>
          <a:solidFill>
            <a:srgbClr val="C8A8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3960009"/>
            <a:ext cx="7560309" cy="72390"/>
          </a:xfrm>
          <a:custGeom>
            <a:avLst/>
            <a:gdLst/>
            <a:ahLst/>
            <a:cxnLst/>
            <a:rect l="l" t="t" r="r" b="b"/>
            <a:pathLst>
              <a:path w="7560309" h="72389">
                <a:moveTo>
                  <a:pt x="7560005" y="0"/>
                </a:moveTo>
                <a:lnTo>
                  <a:pt x="0" y="0"/>
                </a:lnTo>
                <a:lnTo>
                  <a:pt x="0" y="71996"/>
                </a:lnTo>
                <a:lnTo>
                  <a:pt x="7560005" y="71996"/>
                </a:lnTo>
                <a:lnTo>
                  <a:pt x="7560005" y="0"/>
                </a:lnTo>
                <a:close/>
              </a:path>
            </a:pathLst>
          </a:custGeom>
          <a:solidFill>
            <a:srgbClr val="20C6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33828" y="425612"/>
            <a:ext cx="5196205" cy="1013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434501" y="10482885"/>
            <a:ext cx="2691129" cy="13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rgbClr val="20C6A8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Newcastle</a:t>
            </a:r>
            <a:r>
              <a:rPr spc="285" dirty="0"/>
              <a:t> </a:t>
            </a:r>
            <a:r>
              <a:rPr spc="50" dirty="0"/>
              <a:t>|</a:t>
            </a:r>
            <a:r>
              <a:rPr spc="285" dirty="0"/>
              <a:t> </a:t>
            </a:r>
            <a:r>
              <a:rPr spc="85" dirty="0"/>
              <a:t>Gateshead</a:t>
            </a:r>
            <a:r>
              <a:rPr spc="285" dirty="0"/>
              <a:t> </a:t>
            </a:r>
            <a:r>
              <a:rPr spc="50" dirty="0"/>
              <a:t>|</a:t>
            </a:r>
            <a:r>
              <a:rPr spc="285" dirty="0"/>
              <a:t> </a:t>
            </a:r>
            <a:r>
              <a:rPr spc="65" dirty="0"/>
              <a:t>Chester-</a:t>
            </a:r>
            <a:r>
              <a:rPr spc="50" dirty="0"/>
              <a:t>le-</a:t>
            </a:r>
            <a:r>
              <a:rPr spc="60" dirty="0"/>
              <a:t>Street</a:t>
            </a:r>
            <a:r>
              <a:rPr spc="285" dirty="0"/>
              <a:t> </a:t>
            </a:r>
            <a:r>
              <a:rPr spc="50" dirty="0"/>
              <a:t>|</a:t>
            </a:r>
            <a:r>
              <a:rPr spc="285" dirty="0"/>
              <a:t> </a:t>
            </a:r>
            <a:r>
              <a:rPr spc="70" dirty="0"/>
              <a:t>Durham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19303" y="9709210"/>
            <a:ext cx="2573655" cy="158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6B7180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20" dirty="0"/>
              <a:t>Payment</a:t>
            </a:r>
            <a:r>
              <a:rPr spc="45" dirty="0"/>
              <a:t> </a:t>
            </a:r>
            <a:r>
              <a:rPr spc="114" dirty="0"/>
              <a:t>due</a:t>
            </a:r>
            <a:r>
              <a:rPr spc="45" dirty="0"/>
              <a:t> </a:t>
            </a:r>
            <a:r>
              <a:rPr spc="75" dirty="0"/>
              <a:t>within</a:t>
            </a:r>
            <a:r>
              <a:rPr spc="45" dirty="0"/>
              <a:t> </a:t>
            </a:r>
            <a:r>
              <a:rPr spc="120" dirty="0"/>
              <a:t>14</a:t>
            </a:r>
            <a:r>
              <a:rPr spc="45" dirty="0"/>
              <a:t> </a:t>
            </a:r>
            <a:r>
              <a:rPr spc="125" dirty="0"/>
              <a:t>days</a:t>
            </a:r>
            <a:r>
              <a:rPr spc="45" dirty="0"/>
              <a:t> </a:t>
            </a:r>
            <a:r>
              <a:rPr spc="65" dirty="0"/>
              <a:t>of</a:t>
            </a:r>
            <a:r>
              <a:rPr spc="45" dirty="0"/>
              <a:t> </a:t>
            </a:r>
            <a:r>
              <a:rPr spc="85" dirty="0"/>
              <a:t>invoice</a:t>
            </a:r>
            <a:r>
              <a:rPr spc="45" dirty="0"/>
              <a:t> </a:t>
            </a:r>
            <a:r>
              <a:rPr spc="95" dirty="0"/>
              <a:t>date.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gucleanservices.co.uk/" TargetMode="External"/><Relationship Id="rId2" Type="http://schemas.openxmlformats.org/officeDocument/2006/relationships/hyperlink" Target="mailto:agucleanservices@gmail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mailto:client@e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7297" y="1575596"/>
            <a:ext cx="27927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110" dirty="0">
                <a:solidFill>
                  <a:srgbClr val="20C6A8"/>
                </a:solidFill>
                <a:latin typeface="Gill Sans MT"/>
                <a:cs typeface="Gill Sans MT"/>
              </a:rPr>
              <a:t>Home</a:t>
            </a:r>
            <a:r>
              <a:rPr sz="1100" spc="395" dirty="0">
                <a:solidFill>
                  <a:srgbClr val="20C6A8"/>
                </a:solidFill>
                <a:latin typeface="Gill Sans MT"/>
                <a:cs typeface="Gill Sans MT"/>
              </a:rPr>
              <a:t> </a:t>
            </a:r>
            <a:r>
              <a:rPr sz="1100" spc="80" dirty="0">
                <a:solidFill>
                  <a:srgbClr val="20C6A8"/>
                </a:solidFill>
                <a:latin typeface="Gill Sans MT"/>
                <a:cs typeface="Gill Sans MT"/>
              </a:rPr>
              <a:t>|</a:t>
            </a:r>
            <a:r>
              <a:rPr sz="1100" spc="400" dirty="0">
                <a:solidFill>
                  <a:srgbClr val="20C6A8"/>
                </a:solidFill>
                <a:latin typeface="Gill Sans MT"/>
                <a:cs typeface="Gill Sans MT"/>
              </a:rPr>
              <a:t> </a:t>
            </a:r>
            <a:r>
              <a:rPr sz="1100" spc="85" dirty="0">
                <a:solidFill>
                  <a:srgbClr val="20C6A8"/>
                </a:solidFill>
                <a:latin typeface="Gill Sans MT"/>
                <a:cs typeface="Gill Sans MT"/>
              </a:rPr>
              <a:t>Office</a:t>
            </a:r>
            <a:r>
              <a:rPr sz="1100" spc="395" dirty="0">
                <a:solidFill>
                  <a:srgbClr val="20C6A8"/>
                </a:solidFill>
                <a:latin typeface="Gill Sans MT"/>
                <a:cs typeface="Gill Sans MT"/>
              </a:rPr>
              <a:t> </a:t>
            </a:r>
            <a:r>
              <a:rPr sz="1100" spc="80" dirty="0">
                <a:solidFill>
                  <a:srgbClr val="20C6A8"/>
                </a:solidFill>
                <a:latin typeface="Gill Sans MT"/>
                <a:cs typeface="Gill Sans MT"/>
              </a:rPr>
              <a:t>|</a:t>
            </a:r>
            <a:r>
              <a:rPr sz="1100" spc="400" dirty="0">
                <a:solidFill>
                  <a:srgbClr val="20C6A8"/>
                </a:solidFill>
                <a:latin typeface="Gill Sans MT"/>
                <a:cs typeface="Gill Sans MT"/>
              </a:rPr>
              <a:t> </a:t>
            </a:r>
            <a:r>
              <a:rPr sz="1100" spc="105" dirty="0">
                <a:solidFill>
                  <a:srgbClr val="20C6A8"/>
                </a:solidFill>
                <a:latin typeface="Gill Sans MT"/>
                <a:cs typeface="Gill Sans MT"/>
              </a:rPr>
              <a:t>Commercial</a:t>
            </a:r>
            <a:r>
              <a:rPr sz="1100" spc="45" dirty="0">
                <a:solidFill>
                  <a:srgbClr val="20C6A8"/>
                </a:solidFill>
                <a:latin typeface="Gill Sans MT"/>
                <a:cs typeface="Gill Sans MT"/>
              </a:rPr>
              <a:t> </a:t>
            </a:r>
            <a:r>
              <a:rPr sz="1100" spc="110" dirty="0">
                <a:solidFill>
                  <a:srgbClr val="20C6A8"/>
                </a:solidFill>
                <a:latin typeface="Gill Sans MT"/>
                <a:cs typeface="Gill Sans MT"/>
              </a:rPr>
              <a:t>Cleaning</a:t>
            </a:r>
            <a:endParaRPr sz="1100">
              <a:latin typeface="Gill Sans MT"/>
              <a:cs typeface="Gill Sans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520000" y="1865649"/>
            <a:ext cx="4608195" cy="1374775"/>
            <a:chOff x="2520000" y="1865649"/>
            <a:chExt cx="4608195" cy="1374775"/>
          </a:xfrm>
        </p:grpSpPr>
        <p:sp>
          <p:nvSpPr>
            <p:cNvPr id="4" name="object 4"/>
            <p:cNvSpPr/>
            <p:nvPr/>
          </p:nvSpPr>
          <p:spPr>
            <a:xfrm>
              <a:off x="2520000" y="1871999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47999" y="2880005"/>
              <a:ext cx="1080135" cy="360045"/>
            </a:xfrm>
            <a:custGeom>
              <a:avLst/>
              <a:gdLst/>
              <a:ahLst/>
              <a:cxnLst/>
              <a:rect l="l" t="t" r="r" b="b"/>
              <a:pathLst>
                <a:path w="1080134" h="360044">
                  <a:moveTo>
                    <a:pt x="972007" y="0"/>
                  </a:moveTo>
                  <a:lnTo>
                    <a:pt x="108000" y="0"/>
                  </a:lnTo>
                  <a:lnTo>
                    <a:pt x="65938" y="8479"/>
                  </a:lnTo>
                  <a:lnTo>
                    <a:pt x="31611" y="31611"/>
                  </a:lnTo>
                  <a:lnTo>
                    <a:pt x="8479" y="65938"/>
                  </a:lnTo>
                  <a:lnTo>
                    <a:pt x="0" y="108000"/>
                  </a:lnTo>
                  <a:lnTo>
                    <a:pt x="0" y="251993"/>
                  </a:lnTo>
                  <a:lnTo>
                    <a:pt x="8479" y="294055"/>
                  </a:lnTo>
                  <a:lnTo>
                    <a:pt x="31611" y="328382"/>
                  </a:lnTo>
                  <a:lnTo>
                    <a:pt x="65938" y="351514"/>
                  </a:lnTo>
                  <a:lnTo>
                    <a:pt x="108000" y="359994"/>
                  </a:lnTo>
                  <a:lnTo>
                    <a:pt x="972007" y="359994"/>
                  </a:lnTo>
                  <a:lnTo>
                    <a:pt x="1014067" y="351514"/>
                  </a:lnTo>
                  <a:lnTo>
                    <a:pt x="1048389" y="328382"/>
                  </a:lnTo>
                  <a:lnTo>
                    <a:pt x="1071517" y="294055"/>
                  </a:lnTo>
                  <a:lnTo>
                    <a:pt x="1079995" y="251993"/>
                  </a:lnTo>
                  <a:lnTo>
                    <a:pt x="1079995" y="108000"/>
                  </a:lnTo>
                  <a:lnTo>
                    <a:pt x="1071517" y="65938"/>
                  </a:lnTo>
                  <a:lnTo>
                    <a:pt x="1048389" y="31611"/>
                  </a:lnTo>
                  <a:lnTo>
                    <a:pt x="1014067" y="8479"/>
                  </a:lnTo>
                  <a:lnTo>
                    <a:pt x="972007" y="0"/>
                  </a:lnTo>
                  <a:close/>
                </a:path>
              </a:pathLst>
            </a:custGeom>
            <a:solidFill>
              <a:srgbClr val="F5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507297" y="2039350"/>
            <a:ext cx="177355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00" dirty="0">
                <a:solidFill>
                  <a:srgbClr val="AFBDC5"/>
                </a:solidFill>
                <a:latin typeface="Gill Sans MT"/>
                <a:cs typeface="Gill Sans MT"/>
              </a:rPr>
              <a:t>Agnieszka</a:t>
            </a:r>
            <a:r>
              <a:rPr sz="850" spc="40" dirty="0">
                <a:solidFill>
                  <a:srgbClr val="AFBDC5"/>
                </a:solidFill>
                <a:latin typeface="Gill Sans MT"/>
                <a:cs typeface="Gill Sans MT"/>
              </a:rPr>
              <a:t> </a:t>
            </a:r>
            <a:r>
              <a:rPr sz="850" spc="85" dirty="0">
                <a:solidFill>
                  <a:srgbClr val="AFBDC5"/>
                </a:solidFill>
                <a:latin typeface="Gill Sans MT"/>
                <a:cs typeface="Gill Sans MT"/>
              </a:rPr>
              <a:t>Kalina</a:t>
            </a:r>
            <a:r>
              <a:rPr sz="850" spc="45" dirty="0">
                <a:solidFill>
                  <a:srgbClr val="AFBDC5"/>
                </a:solidFill>
                <a:latin typeface="Gill Sans MT"/>
                <a:cs typeface="Gill Sans MT"/>
              </a:rPr>
              <a:t> </a:t>
            </a:r>
            <a:r>
              <a:rPr sz="850" spc="90" dirty="0">
                <a:solidFill>
                  <a:srgbClr val="AFBDC5"/>
                </a:solidFill>
                <a:latin typeface="Gill Sans MT"/>
                <a:cs typeface="Gill Sans MT"/>
              </a:rPr>
              <a:t>vel</a:t>
            </a:r>
            <a:r>
              <a:rPr sz="850" spc="45" dirty="0">
                <a:solidFill>
                  <a:srgbClr val="AFBDC5"/>
                </a:solidFill>
                <a:latin typeface="Gill Sans MT"/>
                <a:cs typeface="Gill Sans MT"/>
              </a:rPr>
              <a:t> </a:t>
            </a:r>
            <a:r>
              <a:rPr sz="850" spc="70" dirty="0">
                <a:solidFill>
                  <a:srgbClr val="AFBDC5"/>
                </a:solidFill>
                <a:latin typeface="Gill Sans MT"/>
                <a:cs typeface="Gill Sans MT"/>
              </a:rPr>
              <a:t>Kalinowska</a:t>
            </a:r>
            <a:endParaRPr sz="850">
              <a:latin typeface="Gill Sans MT"/>
              <a:cs typeface="Gill Sans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07297" y="2327348"/>
            <a:ext cx="256349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10" dirty="0">
                <a:solidFill>
                  <a:srgbClr val="AFBDC5"/>
                </a:solidFill>
                <a:latin typeface="Gill Sans MT"/>
                <a:cs typeface="Gill Sans MT"/>
              </a:rPr>
              <a:t>07448738971</a:t>
            </a:r>
            <a:r>
              <a:rPr sz="850" spc="325" dirty="0">
                <a:solidFill>
                  <a:srgbClr val="AFBDC5"/>
                </a:solidFill>
                <a:latin typeface="Gill Sans MT"/>
                <a:cs typeface="Gill Sans MT"/>
              </a:rPr>
              <a:t> </a:t>
            </a:r>
            <a:r>
              <a:rPr sz="850" spc="60" dirty="0">
                <a:solidFill>
                  <a:srgbClr val="AFBDC5"/>
                </a:solidFill>
                <a:latin typeface="Gill Sans MT"/>
                <a:cs typeface="Gill Sans MT"/>
              </a:rPr>
              <a:t>|</a:t>
            </a:r>
            <a:r>
              <a:rPr sz="850" spc="325" dirty="0">
                <a:solidFill>
                  <a:srgbClr val="AFBDC5"/>
                </a:solidFill>
                <a:latin typeface="Gill Sans MT"/>
                <a:cs typeface="Gill Sans MT"/>
              </a:rPr>
              <a:t> </a:t>
            </a:r>
            <a:r>
              <a:rPr sz="850" spc="90" dirty="0">
                <a:solidFill>
                  <a:srgbClr val="AFBDC5"/>
                </a:solidFill>
                <a:latin typeface="Gill Sans MT"/>
                <a:cs typeface="Gill Sans MT"/>
                <a:hlinkClick r:id="rId2"/>
              </a:rPr>
              <a:t>agucleanservices@gmail.com</a:t>
            </a:r>
            <a:endParaRPr sz="850">
              <a:latin typeface="Gill Sans MT"/>
              <a:cs typeface="Gill Sans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07297" y="2903343"/>
            <a:ext cx="158623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85" dirty="0">
                <a:solidFill>
                  <a:srgbClr val="AFBDC5"/>
                </a:solidFill>
                <a:latin typeface="Gill Sans MT"/>
                <a:cs typeface="Gill Sans MT"/>
                <a:hlinkClick r:id="rId3"/>
              </a:rPr>
              <a:t>www.agucleanservices.co.uk</a:t>
            </a:r>
            <a:endParaRPr sz="850">
              <a:latin typeface="Gill Sans MT"/>
              <a:cs typeface="Gill Sans MT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2121834" y="349552"/>
            <a:ext cx="5196205" cy="1013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AGU</a:t>
            </a:r>
            <a:r>
              <a:rPr spc="165" dirty="0"/>
              <a:t> </a:t>
            </a:r>
            <a:r>
              <a:rPr spc="225" dirty="0"/>
              <a:t>Clean</a:t>
            </a:r>
            <a:r>
              <a:rPr spc="170" dirty="0"/>
              <a:t> </a:t>
            </a:r>
            <a:r>
              <a:rPr spc="285" dirty="0"/>
              <a:t>Services</a:t>
            </a:r>
          </a:p>
          <a:p>
            <a:pPr marL="3069590">
              <a:lnSpc>
                <a:spcPct val="100000"/>
              </a:lnSpc>
              <a:spcBef>
                <a:spcPts val="95"/>
              </a:spcBef>
            </a:pPr>
            <a:r>
              <a:rPr sz="3600" spc="-10" dirty="0"/>
              <a:t>INVOICE</a:t>
            </a:r>
            <a:endParaRPr sz="3600" dirty="0"/>
          </a:p>
        </p:txBody>
      </p:sp>
      <p:sp>
        <p:nvSpPr>
          <p:cNvPr id="10" name="object 10"/>
          <p:cNvSpPr txBox="1"/>
          <p:nvPr/>
        </p:nvSpPr>
        <p:spPr>
          <a:xfrm>
            <a:off x="5616460" y="1600489"/>
            <a:ext cx="1560195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320" dirty="0">
                <a:solidFill>
                  <a:srgbClr val="C8A84B"/>
                </a:solidFill>
                <a:latin typeface="Gill Sans MT"/>
                <a:cs typeface="Gill Sans MT"/>
              </a:rPr>
              <a:t>#</a:t>
            </a:r>
            <a:r>
              <a:rPr sz="1300" b="1" spc="105" dirty="0">
                <a:solidFill>
                  <a:srgbClr val="C8A84B"/>
                </a:solidFill>
                <a:latin typeface="Gill Sans MT"/>
                <a:cs typeface="Gill Sans MT"/>
              </a:rPr>
              <a:t> </a:t>
            </a:r>
            <a:r>
              <a:rPr sz="1300" b="1" spc="140" dirty="0">
                <a:solidFill>
                  <a:srgbClr val="C8A84B"/>
                </a:solidFill>
                <a:latin typeface="Gill Sans MT"/>
                <a:cs typeface="Gill Sans MT"/>
              </a:rPr>
              <a:t>AGU-</a:t>
            </a:r>
            <a:r>
              <a:rPr sz="1300" b="1" spc="105" dirty="0">
                <a:solidFill>
                  <a:srgbClr val="C8A84B"/>
                </a:solidFill>
                <a:latin typeface="Gill Sans MT"/>
                <a:cs typeface="Gill Sans MT"/>
              </a:rPr>
              <a:t>2026-</a:t>
            </a:r>
            <a:r>
              <a:rPr sz="1300" b="1" spc="85" dirty="0">
                <a:solidFill>
                  <a:srgbClr val="C8A84B"/>
                </a:solidFill>
                <a:latin typeface="Gill Sans MT"/>
                <a:cs typeface="Gill Sans MT"/>
              </a:rPr>
              <a:t>00</a:t>
            </a:r>
            <a:r>
              <a:rPr lang="en-GB" sz="1300" b="1" spc="85" dirty="0">
                <a:solidFill>
                  <a:srgbClr val="C8A84B"/>
                </a:solidFill>
                <a:latin typeface="Gill Sans MT"/>
                <a:cs typeface="Gill Sans MT"/>
              </a:rPr>
              <a:t>0</a:t>
            </a:r>
            <a:endParaRPr sz="1300" dirty="0">
              <a:latin typeface="Gill Sans MT"/>
              <a:cs typeface="Gill Sans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52718" y="2177005"/>
            <a:ext cx="1088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90" dirty="0">
                <a:solidFill>
                  <a:srgbClr val="AFBDC5"/>
                </a:solidFill>
                <a:latin typeface="Gill Sans MT"/>
                <a:cs typeface="Gill Sans MT"/>
              </a:rPr>
              <a:t>Date:</a:t>
            </a:r>
            <a:r>
              <a:rPr sz="900" spc="40" dirty="0">
                <a:solidFill>
                  <a:srgbClr val="AFBDC5"/>
                </a:solidFill>
                <a:latin typeface="Gill Sans MT"/>
                <a:cs typeface="Gill Sans MT"/>
              </a:rPr>
              <a:t> </a:t>
            </a:r>
            <a:r>
              <a:rPr sz="900" spc="120" dirty="0">
                <a:solidFill>
                  <a:srgbClr val="AFBDC5"/>
                </a:solidFill>
                <a:latin typeface="Gill Sans MT"/>
                <a:cs typeface="Gill Sans MT"/>
              </a:rPr>
              <a:t>03</a:t>
            </a:r>
            <a:r>
              <a:rPr sz="900" spc="40" dirty="0">
                <a:solidFill>
                  <a:srgbClr val="AFBDC5"/>
                </a:solidFill>
                <a:latin typeface="Gill Sans MT"/>
                <a:cs typeface="Gill Sans MT"/>
              </a:rPr>
              <a:t> </a:t>
            </a:r>
            <a:r>
              <a:rPr sz="900" spc="80" dirty="0">
                <a:solidFill>
                  <a:srgbClr val="AFBDC5"/>
                </a:solidFill>
                <a:latin typeface="Gill Sans MT"/>
                <a:cs typeface="Gill Sans MT"/>
              </a:rPr>
              <a:t>July</a:t>
            </a:r>
            <a:r>
              <a:rPr sz="900" spc="45" dirty="0">
                <a:solidFill>
                  <a:srgbClr val="AFBDC5"/>
                </a:solidFill>
                <a:latin typeface="Gill Sans MT"/>
                <a:cs typeface="Gill Sans MT"/>
              </a:rPr>
              <a:t> </a:t>
            </a:r>
            <a:r>
              <a:rPr sz="900" spc="100" dirty="0">
                <a:solidFill>
                  <a:srgbClr val="AFBDC5"/>
                </a:solidFill>
                <a:latin typeface="Gill Sans MT"/>
                <a:cs typeface="Gill Sans MT"/>
              </a:rPr>
              <a:t>2026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07297" y="2501007"/>
            <a:ext cx="463359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0450">
              <a:lnSpc>
                <a:spcPts val="990"/>
              </a:lnSpc>
              <a:spcBef>
                <a:spcPts val="100"/>
              </a:spcBef>
            </a:pPr>
            <a:r>
              <a:rPr sz="900" spc="90" dirty="0">
                <a:solidFill>
                  <a:srgbClr val="AFBDC5"/>
                </a:solidFill>
                <a:latin typeface="Gill Sans MT"/>
                <a:cs typeface="Gill Sans MT"/>
              </a:rPr>
              <a:t>Due:</a:t>
            </a:r>
            <a:r>
              <a:rPr sz="900" spc="40" dirty="0">
                <a:solidFill>
                  <a:srgbClr val="AFBDC5"/>
                </a:solidFill>
                <a:latin typeface="Gill Sans MT"/>
                <a:cs typeface="Gill Sans MT"/>
              </a:rPr>
              <a:t> </a:t>
            </a:r>
            <a:r>
              <a:rPr sz="900" spc="120" dirty="0">
                <a:solidFill>
                  <a:srgbClr val="AFBDC5"/>
                </a:solidFill>
                <a:latin typeface="Gill Sans MT"/>
                <a:cs typeface="Gill Sans MT"/>
              </a:rPr>
              <a:t>17</a:t>
            </a:r>
            <a:r>
              <a:rPr sz="900" spc="40" dirty="0">
                <a:solidFill>
                  <a:srgbClr val="AFBDC5"/>
                </a:solidFill>
                <a:latin typeface="Gill Sans MT"/>
                <a:cs typeface="Gill Sans MT"/>
              </a:rPr>
              <a:t> </a:t>
            </a:r>
            <a:r>
              <a:rPr sz="900" spc="80" dirty="0">
                <a:solidFill>
                  <a:srgbClr val="AFBDC5"/>
                </a:solidFill>
                <a:latin typeface="Gill Sans MT"/>
                <a:cs typeface="Gill Sans MT"/>
              </a:rPr>
              <a:t>July</a:t>
            </a:r>
            <a:r>
              <a:rPr sz="900" spc="45" dirty="0">
                <a:solidFill>
                  <a:srgbClr val="AFBDC5"/>
                </a:solidFill>
                <a:latin typeface="Gill Sans MT"/>
                <a:cs typeface="Gill Sans MT"/>
              </a:rPr>
              <a:t> </a:t>
            </a:r>
            <a:r>
              <a:rPr sz="900" spc="100" dirty="0">
                <a:solidFill>
                  <a:srgbClr val="AFBDC5"/>
                </a:solidFill>
                <a:latin typeface="Gill Sans MT"/>
                <a:cs typeface="Gill Sans MT"/>
              </a:rPr>
              <a:t>2026</a:t>
            </a:r>
            <a:endParaRPr sz="900">
              <a:latin typeface="Gill Sans MT"/>
              <a:cs typeface="Gill Sans MT"/>
            </a:endParaRPr>
          </a:p>
          <a:p>
            <a:pPr marL="12700">
              <a:lnSpc>
                <a:spcPts val="930"/>
              </a:lnSpc>
            </a:pPr>
            <a:r>
              <a:rPr sz="850" spc="80" dirty="0">
                <a:solidFill>
                  <a:srgbClr val="AFBDC5"/>
                </a:solidFill>
                <a:latin typeface="Gill Sans MT"/>
                <a:cs typeface="Gill Sans MT"/>
              </a:rPr>
              <a:t>Newcastle</a:t>
            </a:r>
            <a:r>
              <a:rPr sz="850" spc="305" dirty="0">
                <a:solidFill>
                  <a:srgbClr val="AFBDC5"/>
                </a:solidFill>
                <a:latin typeface="Gill Sans MT"/>
                <a:cs typeface="Gill Sans MT"/>
              </a:rPr>
              <a:t> </a:t>
            </a:r>
            <a:r>
              <a:rPr sz="850" spc="60" dirty="0">
                <a:solidFill>
                  <a:srgbClr val="AFBDC5"/>
                </a:solidFill>
                <a:latin typeface="Gill Sans MT"/>
                <a:cs typeface="Gill Sans MT"/>
              </a:rPr>
              <a:t>|</a:t>
            </a:r>
            <a:r>
              <a:rPr sz="850" spc="310" dirty="0">
                <a:solidFill>
                  <a:srgbClr val="AFBDC5"/>
                </a:solidFill>
                <a:latin typeface="Gill Sans MT"/>
                <a:cs typeface="Gill Sans MT"/>
              </a:rPr>
              <a:t> </a:t>
            </a:r>
            <a:r>
              <a:rPr sz="850" spc="105" dirty="0">
                <a:solidFill>
                  <a:srgbClr val="AFBDC5"/>
                </a:solidFill>
                <a:latin typeface="Gill Sans MT"/>
                <a:cs typeface="Gill Sans MT"/>
              </a:rPr>
              <a:t>Gateshead</a:t>
            </a:r>
            <a:r>
              <a:rPr sz="850" spc="310" dirty="0">
                <a:solidFill>
                  <a:srgbClr val="AFBDC5"/>
                </a:solidFill>
                <a:latin typeface="Gill Sans MT"/>
                <a:cs typeface="Gill Sans MT"/>
              </a:rPr>
              <a:t> </a:t>
            </a:r>
            <a:r>
              <a:rPr sz="850" spc="60" dirty="0">
                <a:solidFill>
                  <a:srgbClr val="AFBDC5"/>
                </a:solidFill>
                <a:latin typeface="Gill Sans MT"/>
                <a:cs typeface="Gill Sans MT"/>
              </a:rPr>
              <a:t>|</a:t>
            </a:r>
            <a:r>
              <a:rPr sz="850" spc="310" dirty="0">
                <a:solidFill>
                  <a:srgbClr val="AFBDC5"/>
                </a:solidFill>
                <a:latin typeface="Gill Sans MT"/>
                <a:cs typeface="Gill Sans MT"/>
              </a:rPr>
              <a:t> </a:t>
            </a:r>
            <a:r>
              <a:rPr sz="850" spc="70" dirty="0">
                <a:solidFill>
                  <a:srgbClr val="AFBDC5"/>
                </a:solidFill>
                <a:latin typeface="Gill Sans MT"/>
                <a:cs typeface="Gill Sans MT"/>
              </a:rPr>
              <a:t>Chester-</a:t>
            </a:r>
            <a:r>
              <a:rPr sz="850" spc="55" dirty="0">
                <a:solidFill>
                  <a:srgbClr val="AFBDC5"/>
                </a:solidFill>
                <a:latin typeface="Gill Sans MT"/>
                <a:cs typeface="Gill Sans MT"/>
              </a:rPr>
              <a:t>le-</a:t>
            </a:r>
            <a:r>
              <a:rPr sz="850" spc="65" dirty="0">
                <a:solidFill>
                  <a:srgbClr val="AFBDC5"/>
                </a:solidFill>
                <a:latin typeface="Gill Sans MT"/>
                <a:cs typeface="Gill Sans MT"/>
              </a:rPr>
              <a:t>Street</a:t>
            </a:r>
            <a:r>
              <a:rPr sz="850" spc="305" dirty="0">
                <a:solidFill>
                  <a:srgbClr val="AFBDC5"/>
                </a:solidFill>
                <a:latin typeface="Gill Sans MT"/>
                <a:cs typeface="Gill Sans MT"/>
              </a:rPr>
              <a:t> </a:t>
            </a:r>
            <a:r>
              <a:rPr sz="850" spc="60" dirty="0">
                <a:solidFill>
                  <a:srgbClr val="AFBDC5"/>
                </a:solidFill>
                <a:latin typeface="Gill Sans MT"/>
                <a:cs typeface="Gill Sans MT"/>
              </a:rPr>
              <a:t>|</a:t>
            </a:r>
            <a:r>
              <a:rPr sz="850" spc="310" dirty="0">
                <a:solidFill>
                  <a:srgbClr val="AFBDC5"/>
                </a:solidFill>
                <a:latin typeface="Gill Sans MT"/>
                <a:cs typeface="Gill Sans MT"/>
              </a:rPr>
              <a:t> </a:t>
            </a:r>
            <a:r>
              <a:rPr sz="850" spc="80" dirty="0">
                <a:solidFill>
                  <a:srgbClr val="AFBDC5"/>
                </a:solidFill>
                <a:latin typeface="Gill Sans MT"/>
                <a:cs typeface="Gill Sans MT"/>
              </a:rPr>
              <a:t>Durham</a:t>
            </a:r>
            <a:endParaRPr sz="850">
              <a:latin typeface="Gill Sans MT"/>
              <a:cs typeface="Gill Sans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26251" y="2986999"/>
            <a:ext cx="5238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Gill Sans MT"/>
                <a:cs typeface="Gill Sans MT"/>
              </a:rPr>
              <a:t>UNPAID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9303" y="4540298"/>
            <a:ext cx="6210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152239"/>
                </a:solidFill>
                <a:latin typeface="Gill Sans MT"/>
                <a:cs typeface="Gill Sans MT"/>
              </a:rPr>
              <a:t>BILL</a:t>
            </a:r>
            <a:r>
              <a:rPr sz="1000" b="1" spc="204" dirty="0">
                <a:solidFill>
                  <a:srgbClr val="152239"/>
                </a:solidFill>
                <a:latin typeface="Gill Sans MT"/>
                <a:cs typeface="Gill Sans MT"/>
              </a:rPr>
              <a:t> </a:t>
            </a:r>
            <a:r>
              <a:rPr sz="1000" b="1" spc="-25" dirty="0">
                <a:solidFill>
                  <a:srgbClr val="152239"/>
                </a:solidFill>
                <a:latin typeface="Gill Sans MT"/>
                <a:cs typeface="Gill Sans MT"/>
              </a:rPr>
              <a:t>TO:</a:t>
            </a:r>
            <a:endParaRPr sz="1000">
              <a:latin typeface="Gill Sans MT"/>
              <a:cs typeface="Gill Sans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32003" y="4697993"/>
            <a:ext cx="648335" cy="36195"/>
          </a:xfrm>
          <a:custGeom>
            <a:avLst/>
            <a:gdLst/>
            <a:ahLst/>
            <a:cxnLst/>
            <a:rect l="l" t="t" r="r" b="b"/>
            <a:pathLst>
              <a:path w="648335" h="36195">
                <a:moveTo>
                  <a:pt x="648004" y="0"/>
                </a:moveTo>
                <a:lnTo>
                  <a:pt x="0" y="0"/>
                </a:lnTo>
                <a:lnTo>
                  <a:pt x="0" y="36004"/>
                </a:lnTo>
                <a:lnTo>
                  <a:pt x="648004" y="36004"/>
                </a:lnTo>
                <a:lnTo>
                  <a:pt x="648004" y="0"/>
                </a:lnTo>
                <a:close/>
              </a:path>
            </a:pathLst>
          </a:custGeom>
          <a:solidFill>
            <a:srgbClr val="20C6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19303" y="4874904"/>
            <a:ext cx="10725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85" dirty="0">
                <a:solidFill>
                  <a:srgbClr val="152239"/>
                </a:solidFill>
                <a:latin typeface="Gill Sans MT"/>
                <a:cs typeface="Gill Sans MT"/>
              </a:rPr>
              <a:t>Client</a:t>
            </a:r>
            <a:r>
              <a:rPr sz="1200" b="1" spc="80" dirty="0">
                <a:solidFill>
                  <a:srgbClr val="152239"/>
                </a:solidFill>
                <a:latin typeface="Gill Sans MT"/>
                <a:cs typeface="Gill Sans MT"/>
              </a:rPr>
              <a:t> Name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9303" y="5260299"/>
            <a:ext cx="128841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35" dirty="0">
                <a:solidFill>
                  <a:srgbClr val="6B7180"/>
                </a:solidFill>
                <a:latin typeface="Gill Sans MT"/>
                <a:cs typeface="Gill Sans MT"/>
              </a:rPr>
              <a:t>123</a:t>
            </a:r>
            <a:r>
              <a:rPr sz="1000" spc="40" dirty="0">
                <a:solidFill>
                  <a:srgbClr val="6B7180"/>
                </a:solidFill>
                <a:latin typeface="Gill Sans MT"/>
                <a:cs typeface="Gill Sans MT"/>
              </a:rPr>
              <a:t> </a:t>
            </a:r>
            <a:r>
              <a:rPr sz="1000" spc="130" dirty="0">
                <a:solidFill>
                  <a:srgbClr val="6B7180"/>
                </a:solidFill>
                <a:latin typeface="Gill Sans MT"/>
                <a:cs typeface="Gill Sans MT"/>
              </a:rPr>
              <a:t>Example</a:t>
            </a:r>
            <a:r>
              <a:rPr sz="1000" spc="45" dirty="0">
                <a:solidFill>
                  <a:srgbClr val="6B7180"/>
                </a:solidFill>
                <a:latin typeface="Gill Sans MT"/>
                <a:cs typeface="Gill Sans MT"/>
              </a:rPr>
              <a:t> </a:t>
            </a:r>
            <a:r>
              <a:rPr sz="1000" spc="85" dirty="0">
                <a:solidFill>
                  <a:srgbClr val="6B7180"/>
                </a:solidFill>
                <a:latin typeface="Gill Sans MT"/>
                <a:cs typeface="Gill Sans MT"/>
              </a:rPr>
              <a:t>Street</a:t>
            </a:r>
            <a:endParaRPr sz="1000">
              <a:latin typeface="Gill Sans MT"/>
              <a:cs typeface="Gill Sans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9303" y="5620293"/>
            <a:ext cx="13912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90" dirty="0">
                <a:solidFill>
                  <a:srgbClr val="6B7180"/>
                </a:solidFill>
                <a:latin typeface="Gill Sans MT"/>
                <a:cs typeface="Gill Sans MT"/>
              </a:rPr>
              <a:t>Newcastle</a:t>
            </a:r>
            <a:r>
              <a:rPr sz="1000" spc="65" dirty="0">
                <a:solidFill>
                  <a:srgbClr val="6B7180"/>
                </a:solidFill>
                <a:latin typeface="Gill Sans MT"/>
                <a:cs typeface="Gill Sans MT"/>
              </a:rPr>
              <a:t> </a:t>
            </a:r>
            <a:r>
              <a:rPr sz="1000" spc="110" dirty="0">
                <a:solidFill>
                  <a:srgbClr val="6B7180"/>
                </a:solidFill>
                <a:latin typeface="Gill Sans MT"/>
                <a:cs typeface="Gill Sans MT"/>
              </a:rPr>
              <a:t>upon</a:t>
            </a:r>
            <a:r>
              <a:rPr sz="1000" spc="65" dirty="0">
                <a:solidFill>
                  <a:srgbClr val="6B7180"/>
                </a:solidFill>
                <a:latin typeface="Gill Sans MT"/>
                <a:cs typeface="Gill Sans MT"/>
              </a:rPr>
              <a:t> </a:t>
            </a:r>
            <a:r>
              <a:rPr sz="1000" spc="85" dirty="0">
                <a:solidFill>
                  <a:srgbClr val="6B7180"/>
                </a:solidFill>
                <a:latin typeface="Gill Sans MT"/>
                <a:cs typeface="Gill Sans MT"/>
              </a:rPr>
              <a:t>Tyne</a:t>
            </a:r>
            <a:endParaRPr sz="1000">
              <a:latin typeface="Gill Sans MT"/>
              <a:cs typeface="Gill Sans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0871" y="5891342"/>
            <a:ext cx="1163320" cy="537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75" dirty="0">
                <a:solidFill>
                  <a:srgbClr val="6B7180"/>
                </a:solidFill>
                <a:latin typeface="Gill Sans MT"/>
                <a:cs typeface="Gill Sans MT"/>
              </a:rPr>
              <a:t>NE1</a:t>
            </a:r>
            <a:r>
              <a:rPr sz="1000" spc="45" dirty="0">
                <a:solidFill>
                  <a:srgbClr val="6B7180"/>
                </a:solidFill>
                <a:latin typeface="Gill Sans MT"/>
                <a:cs typeface="Gill Sans MT"/>
              </a:rPr>
              <a:t> </a:t>
            </a:r>
            <a:r>
              <a:rPr sz="1000" spc="25" dirty="0">
                <a:solidFill>
                  <a:srgbClr val="6B7180"/>
                </a:solidFill>
                <a:latin typeface="Gill Sans MT"/>
                <a:cs typeface="Gill Sans MT"/>
              </a:rPr>
              <a:t>1AA</a:t>
            </a:r>
            <a:endParaRPr sz="1000" dirty="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00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90" dirty="0">
                <a:solidFill>
                  <a:srgbClr val="6B7180"/>
                </a:solidFill>
                <a:latin typeface="Gill Sans MT"/>
                <a:cs typeface="Gill Sans MT"/>
                <a:hlinkClick r:id="rId4"/>
              </a:rPr>
              <a:t>client@email.com</a:t>
            </a:r>
            <a:endParaRPr sz="1000" dirty="0">
              <a:latin typeface="Gill Sans MT"/>
              <a:cs typeface="Gill Sans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956824" y="4568819"/>
            <a:ext cx="3174365" cy="1374775"/>
            <a:chOff x="3956824" y="4568819"/>
            <a:chExt cx="3174365" cy="1374775"/>
          </a:xfrm>
        </p:grpSpPr>
        <p:sp>
          <p:nvSpPr>
            <p:cNvPr id="21" name="object 21"/>
            <p:cNvSpPr/>
            <p:nvPr/>
          </p:nvSpPr>
          <p:spPr>
            <a:xfrm>
              <a:off x="3959999" y="4571994"/>
              <a:ext cx="3168015" cy="1368425"/>
            </a:xfrm>
            <a:custGeom>
              <a:avLst/>
              <a:gdLst/>
              <a:ahLst/>
              <a:cxnLst/>
              <a:rect l="l" t="t" r="r" b="b"/>
              <a:pathLst>
                <a:path w="3168015" h="1368425">
                  <a:moveTo>
                    <a:pt x="3060001" y="0"/>
                  </a:moveTo>
                  <a:lnTo>
                    <a:pt x="108000" y="0"/>
                  </a:lnTo>
                  <a:lnTo>
                    <a:pt x="65938" y="8479"/>
                  </a:lnTo>
                  <a:lnTo>
                    <a:pt x="31611" y="31611"/>
                  </a:lnTo>
                  <a:lnTo>
                    <a:pt x="8479" y="65938"/>
                  </a:lnTo>
                  <a:lnTo>
                    <a:pt x="0" y="108000"/>
                  </a:lnTo>
                  <a:lnTo>
                    <a:pt x="0" y="1260005"/>
                  </a:lnTo>
                  <a:lnTo>
                    <a:pt x="8479" y="1302067"/>
                  </a:lnTo>
                  <a:lnTo>
                    <a:pt x="31611" y="1336394"/>
                  </a:lnTo>
                  <a:lnTo>
                    <a:pt x="65938" y="1359526"/>
                  </a:lnTo>
                  <a:lnTo>
                    <a:pt x="108000" y="1368005"/>
                  </a:lnTo>
                  <a:lnTo>
                    <a:pt x="3060001" y="1368005"/>
                  </a:lnTo>
                  <a:lnTo>
                    <a:pt x="3102063" y="1359526"/>
                  </a:lnTo>
                  <a:lnTo>
                    <a:pt x="3136390" y="1336394"/>
                  </a:lnTo>
                  <a:lnTo>
                    <a:pt x="3159522" y="1302067"/>
                  </a:lnTo>
                  <a:lnTo>
                    <a:pt x="3168002" y="1260005"/>
                  </a:lnTo>
                  <a:lnTo>
                    <a:pt x="3168002" y="108000"/>
                  </a:lnTo>
                  <a:lnTo>
                    <a:pt x="3159522" y="65938"/>
                  </a:lnTo>
                  <a:lnTo>
                    <a:pt x="3136390" y="31611"/>
                  </a:lnTo>
                  <a:lnTo>
                    <a:pt x="3102063" y="8479"/>
                  </a:lnTo>
                  <a:lnTo>
                    <a:pt x="3060001" y="0"/>
                  </a:lnTo>
                  <a:close/>
                </a:path>
              </a:pathLst>
            </a:custGeom>
            <a:solidFill>
              <a:srgbClr val="F4F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959999" y="4571994"/>
              <a:ext cx="3168015" cy="1368425"/>
            </a:xfrm>
            <a:custGeom>
              <a:avLst/>
              <a:gdLst/>
              <a:ahLst/>
              <a:cxnLst/>
              <a:rect l="l" t="t" r="r" b="b"/>
              <a:pathLst>
                <a:path w="3168015" h="1368425">
                  <a:moveTo>
                    <a:pt x="108000" y="1368005"/>
                  </a:moveTo>
                  <a:lnTo>
                    <a:pt x="3060001" y="1368005"/>
                  </a:lnTo>
                  <a:lnTo>
                    <a:pt x="3102063" y="1359526"/>
                  </a:lnTo>
                  <a:lnTo>
                    <a:pt x="3136390" y="1336394"/>
                  </a:lnTo>
                  <a:lnTo>
                    <a:pt x="3159522" y="1302067"/>
                  </a:lnTo>
                  <a:lnTo>
                    <a:pt x="3168002" y="1260005"/>
                  </a:lnTo>
                  <a:lnTo>
                    <a:pt x="3168002" y="108000"/>
                  </a:lnTo>
                  <a:lnTo>
                    <a:pt x="3159522" y="65938"/>
                  </a:lnTo>
                  <a:lnTo>
                    <a:pt x="3136390" y="31611"/>
                  </a:lnTo>
                  <a:lnTo>
                    <a:pt x="3102063" y="8479"/>
                  </a:lnTo>
                  <a:lnTo>
                    <a:pt x="3060001" y="0"/>
                  </a:lnTo>
                  <a:lnTo>
                    <a:pt x="108000" y="0"/>
                  </a:lnTo>
                  <a:lnTo>
                    <a:pt x="65938" y="8479"/>
                  </a:lnTo>
                  <a:lnTo>
                    <a:pt x="31611" y="31611"/>
                  </a:lnTo>
                  <a:lnTo>
                    <a:pt x="8479" y="65938"/>
                  </a:lnTo>
                  <a:lnTo>
                    <a:pt x="0" y="108000"/>
                  </a:lnTo>
                  <a:lnTo>
                    <a:pt x="0" y="1260005"/>
                  </a:lnTo>
                  <a:lnTo>
                    <a:pt x="8479" y="1302067"/>
                  </a:lnTo>
                  <a:lnTo>
                    <a:pt x="31611" y="1336394"/>
                  </a:lnTo>
                  <a:lnTo>
                    <a:pt x="65938" y="1359526"/>
                  </a:lnTo>
                  <a:lnTo>
                    <a:pt x="108000" y="1368005"/>
                  </a:lnTo>
                  <a:close/>
                </a:path>
              </a:pathLst>
            </a:custGeom>
            <a:ln w="6350">
              <a:solidFill>
                <a:srgbClr val="E4EA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127296" y="4732994"/>
            <a:ext cx="1930400" cy="1207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152239"/>
                </a:solidFill>
                <a:latin typeface="Gill Sans MT"/>
                <a:cs typeface="Gill Sans MT"/>
              </a:rPr>
              <a:t>SERVICE</a:t>
            </a:r>
            <a:r>
              <a:rPr sz="900" b="1" spc="335" dirty="0">
                <a:solidFill>
                  <a:srgbClr val="152239"/>
                </a:solidFill>
                <a:latin typeface="Gill Sans MT"/>
                <a:cs typeface="Gill Sans MT"/>
              </a:rPr>
              <a:t> </a:t>
            </a:r>
            <a:r>
              <a:rPr sz="900" b="1" spc="-10" dirty="0">
                <a:solidFill>
                  <a:srgbClr val="152239"/>
                </a:solidFill>
                <a:latin typeface="Gill Sans MT"/>
                <a:cs typeface="Gill Sans MT"/>
              </a:rPr>
              <a:t>DETAILS</a:t>
            </a:r>
            <a:endParaRPr sz="900">
              <a:latin typeface="Gill Sans MT"/>
              <a:cs typeface="Gill Sans MT"/>
            </a:endParaRPr>
          </a:p>
          <a:p>
            <a:pPr marL="12700" marR="5080">
              <a:lnSpc>
                <a:spcPct val="183700"/>
              </a:lnSpc>
              <a:spcBef>
                <a:spcPts val="280"/>
              </a:spcBef>
              <a:tabLst>
                <a:tab pos="984250" algn="l"/>
              </a:tabLst>
            </a:pPr>
            <a:r>
              <a:rPr sz="900" spc="95" dirty="0">
                <a:solidFill>
                  <a:srgbClr val="6B7180"/>
                </a:solidFill>
                <a:latin typeface="Gill Sans MT"/>
                <a:cs typeface="Gill Sans MT"/>
              </a:rPr>
              <a:t>Service</a:t>
            </a:r>
            <a:r>
              <a:rPr sz="900" spc="50" dirty="0">
                <a:solidFill>
                  <a:srgbClr val="6B7180"/>
                </a:solidFill>
                <a:latin typeface="Gill Sans MT"/>
                <a:cs typeface="Gill Sans MT"/>
              </a:rPr>
              <a:t> </a:t>
            </a:r>
            <a:r>
              <a:rPr sz="900" spc="85" dirty="0">
                <a:solidFill>
                  <a:srgbClr val="6B7180"/>
                </a:solidFill>
                <a:latin typeface="Gill Sans MT"/>
                <a:cs typeface="Gill Sans MT"/>
              </a:rPr>
              <a:t>Type:</a:t>
            </a:r>
            <a:r>
              <a:rPr sz="900" dirty="0">
                <a:solidFill>
                  <a:srgbClr val="6B7180"/>
                </a:solidFill>
                <a:latin typeface="Gill Sans MT"/>
                <a:cs typeface="Gill Sans MT"/>
              </a:rPr>
              <a:t>	</a:t>
            </a:r>
            <a:r>
              <a:rPr sz="900" b="1" spc="90" dirty="0">
                <a:solidFill>
                  <a:srgbClr val="152239"/>
                </a:solidFill>
                <a:latin typeface="Gill Sans MT"/>
                <a:cs typeface="Gill Sans MT"/>
              </a:rPr>
              <a:t>Deep</a:t>
            </a:r>
            <a:r>
              <a:rPr sz="900" b="1" spc="50" dirty="0">
                <a:solidFill>
                  <a:srgbClr val="152239"/>
                </a:solidFill>
                <a:latin typeface="Gill Sans MT"/>
                <a:cs typeface="Gill Sans MT"/>
              </a:rPr>
              <a:t> </a:t>
            </a:r>
            <a:r>
              <a:rPr sz="900" b="1" spc="75" dirty="0">
                <a:solidFill>
                  <a:srgbClr val="152239"/>
                </a:solidFill>
                <a:latin typeface="Gill Sans MT"/>
                <a:cs typeface="Gill Sans MT"/>
              </a:rPr>
              <a:t>Cleaning </a:t>
            </a:r>
            <a:r>
              <a:rPr sz="900" spc="95" dirty="0">
                <a:solidFill>
                  <a:srgbClr val="6B7180"/>
                </a:solidFill>
                <a:latin typeface="Gill Sans MT"/>
                <a:cs typeface="Gill Sans MT"/>
              </a:rPr>
              <a:t>Service</a:t>
            </a:r>
            <a:r>
              <a:rPr sz="900" spc="50" dirty="0">
                <a:solidFill>
                  <a:srgbClr val="6B7180"/>
                </a:solidFill>
                <a:latin typeface="Gill Sans MT"/>
                <a:cs typeface="Gill Sans MT"/>
              </a:rPr>
              <a:t> </a:t>
            </a:r>
            <a:r>
              <a:rPr sz="900" spc="80" dirty="0">
                <a:solidFill>
                  <a:srgbClr val="6B7180"/>
                </a:solidFill>
                <a:latin typeface="Gill Sans MT"/>
                <a:cs typeface="Gill Sans MT"/>
              </a:rPr>
              <a:t>Date:</a:t>
            </a:r>
            <a:r>
              <a:rPr sz="900" dirty="0">
                <a:solidFill>
                  <a:srgbClr val="6B7180"/>
                </a:solidFill>
                <a:latin typeface="Gill Sans MT"/>
                <a:cs typeface="Gill Sans MT"/>
              </a:rPr>
              <a:t>	</a:t>
            </a:r>
            <a:r>
              <a:rPr sz="900" b="1" spc="125" dirty="0">
                <a:solidFill>
                  <a:srgbClr val="152239"/>
                </a:solidFill>
                <a:latin typeface="Gill Sans MT"/>
                <a:cs typeface="Gill Sans MT"/>
              </a:rPr>
              <a:t>03</a:t>
            </a:r>
            <a:r>
              <a:rPr sz="900" b="1" spc="60" dirty="0">
                <a:solidFill>
                  <a:srgbClr val="152239"/>
                </a:solidFill>
                <a:latin typeface="Gill Sans MT"/>
                <a:cs typeface="Gill Sans MT"/>
              </a:rPr>
              <a:t> </a:t>
            </a:r>
            <a:r>
              <a:rPr sz="900" b="1" spc="80" dirty="0">
                <a:solidFill>
                  <a:srgbClr val="152239"/>
                </a:solidFill>
                <a:latin typeface="Gill Sans MT"/>
                <a:cs typeface="Gill Sans MT"/>
              </a:rPr>
              <a:t>July</a:t>
            </a:r>
            <a:r>
              <a:rPr sz="900" b="1" spc="60" dirty="0">
                <a:solidFill>
                  <a:srgbClr val="152239"/>
                </a:solidFill>
                <a:latin typeface="Gill Sans MT"/>
                <a:cs typeface="Gill Sans MT"/>
              </a:rPr>
              <a:t> </a:t>
            </a:r>
            <a:r>
              <a:rPr sz="900" b="1" spc="105" dirty="0">
                <a:solidFill>
                  <a:srgbClr val="152239"/>
                </a:solidFill>
                <a:latin typeface="Gill Sans MT"/>
                <a:cs typeface="Gill Sans MT"/>
              </a:rPr>
              <a:t>2026 </a:t>
            </a:r>
            <a:r>
              <a:rPr sz="900" spc="60" dirty="0">
                <a:solidFill>
                  <a:srgbClr val="6B7180"/>
                </a:solidFill>
                <a:latin typeface="Gill Sans MT"/>
                <a:cs typeface="Gill Sans MT"/>
              </a:rPr>
              <a:t>Property:</a:t>
            </a:r>
            <a:r>
              <a:rPr sz="900" dirty="0">
                <a:solidFill>
                  <a:srgbClr val="6B7180"/>
                </a:solidFill>
                <a:latin typeface="Gill Sans MT"/>
                <a:cs typeface="Gill Sans MT"/>
              </a:rPr>
              <a:t>	</a:t>
            </a:r>
            <a:r>
              <a:rPr sz="900" b="1" spc="80" dirty="0">
                <a:solidFill>
                  <a:srgbClr val="152239"/>
                </a:solidFill>
                <a:latin typeface="Gill Sans MT"/>
                <a:cs typeface="Gill Sans MT"/>
              </a:rPr>
              <a:t>3-</a:t>
            </a:r>
            <a:r>
              <a:rPr sz="900" b="1" spc="110" dirty="0">
                <a:solidFill>
                  <a:srgbClr val="152239"/>
                </a:solidFill>
                <a:latin typeface="Gill Sans MT"/>
                <a:cs typeface="Gill Sans MT"/>
              </a:rPr>
              <a:t>Bed</a:t>
            </a:r>
            <a:r>
              <a:rPr sz="900" b="1" spc="60" dirty="0">
                <a:solidFill>
                  <a:srgbClr val="152239"/>
                </a:solidFill>
                <a:latin typeface="Gill Sans MT"/>
                <a:cs typeface="Gill Sans MT"/>
              </a:rPr>
              <a:t> </a:t>
            </a:r>
            <a:r>
              <a:rPr sz="900" b="1" spc="75" dirty="0">
                <a:solidFill>
                  <a:srgbClr val="152239"/>
                </a:solidFill>
                <a:latin typeface="Gill Sans MT"/>
                <a:cs typeface="Gill Sans MT"/>
              </a:rPr>
              <a:t>House </a:t>
            </a:r>
            <a:r>
              <a:rPr sz="900" spc="90" dirty="0">
                <a:solidFill>
                  <a:srgbClr val="6B7180"/>
                </a:solidFill>
                <a:latin typeface="Gill Sans MT"/>
                <a:cs typeface="Gill Sans MT"/>
              </a:rPr>
              <a:t>Reference:</a:t>
            </a:r>
            <a:r>
              <a:rPr sz="900" dirty="0">
                <a:solidFill>
                  <a:srgbClr val="6B7180"/>
                </a:solidFill>
                <a:latin typeface="Gill Sans MT"/>
                <a:cs typeface="Gill Sans MT"/>
              </a:rPr>
              <a:t>	</a:t>
            </a:r>
            <a:r>
              <a:rPr sz="900" b="1" spc="95" dirty="0">
                <a:solidFill>
                  <a:srgbClr val="152239"/>
                </a:solidFill>
                <a:latin typeface="Gill Sans MT"/>
                <a:cs typeface="Gill Sans MT"/>
              </a:rPr>
              <a:t>AGU-</a:t>
            </a:r>
            <a:r>
              <a:rPr sz="900" b="1" spc="70" dirty="0">
                <a:solidFill>
                  <a:srgbClr val="152239"/>
                </a:solidFill>
                <a:latin typeface="Gill Sans MT"/>
                <a:cs typeface="Gill Sans MT"/>
              </a:rPr>
              <a:t>2026-</a:t>
            </a:r>
            <a:r>
              <a:rPr sz="900" b="1" spc="55" dirty="0">
                <a:solidFill>
                  <a:srgbClr val="152239"/>
                </a:solidFill>
                <a:latin typeface="Gill Sans MT"/>
                <a:cs typeface="Gill Sans MT"/>
              </a:rPr>
              <a:t>001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32003" y="6480006"/>
            <a:ext cx="6696075" cy="288290"/>
          </a:xfrm>
          <a:custGeom>
            <a:avLst/>
            <a:gdLst/>
            <a:ahLst/>
            <a:cxnLst/>
            <a:rect l="l" t="t" r="r" b="b"/>
            <a:pathLst>
              <a:path w="6696075" h="288290">
                <a:moveTo>
                  <a:pt x="6695998" y="0"/>
                </a:moveTo>
                <a:lnTo>
                  <a:pt x="0" y="0"/>
                </a:lnTo>
                <a:lnTo>
                  <a:pt x="0" y="287997"/>
                </a:lnTo>
                <a:lnTo>
                  <a:pt x="6695998" y="287997"/>
                </a:lnTo>
                <a:lnTo>
                  <a:pt x="6695998" y="0"/>
                </a:lnTo>
                <a:close/>
              </a:path>
            </a:pathLst>
          </a:custGeom>
          <a:solidFill>
            <a:srgbClr val="1522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03999" y="6551000"/>
            <a:ext cx="7524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b="1" spc="70" dirty="0">
                <a:solidFill>
                  <a:srgbClr val="FFFFFF"/>
                </a:solidFill>
                <a:latin typeface="Gill Sans MT"/>
                <a:cs typeface="Gill Sans MT"/>
              </a:rPr>
              <a:t>Description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564001" y="6551000"/>
            <a:ext cx="5810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b="1" spc="50" dirty="0">
                <a:solidFill>
                  <a:srgbClr val="FFFFFF"/>
                </a:solidFill>
                <a:latin typeface="Gill Sans MT"/>
                <a:cs typeface="Gill Sans MT"/>
              </a:rPr>
              <a:t>Qty</a:t>
            </a:r>
            <a:r>
              <a:rPr sz="900" b="1" spc="6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900" b="1" spc="75" dirty="0">
                <a:solidFill>
                  <a:srgbClr val="FFFFFF"/>
                </a:solidFill>
                <a:latin typeface="Gill Sans MT"/>
                <a:cs typeface="Gill Sans MT"/>
              </a:rPr>
              <a:t>/</a:t>
            </a:r>
            <a:r>
              <a:rPr sz="900" b="1" spc="6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900" b="1" spc="35" dirty="0">
                <a:solidFill>
                  <a:srgbClr val="FFFFFF"/>
                </a:solidFill>
                <a:latin typeface="Gill Sans MT"/>
                <a:cs typeface="Gill Sans MT"/>
              </a:rPr>
              <a:t>Hrs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63978" y="6551000"/>
            <a:ext cx="6451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b="1" spc="55" dirty="0">
                <a:solidFill>
                  <a:srgbClr val="FFFFFF"/>
                </a:solidFill>
                <a:latin typeface="Gill Sans MT"/>
                <a:cs typeface="Gill Sans MT"/>
              </a:rPr>
              <a:t>Unit</a:t>
            </a:r>
            <a:r>
              <a:rPr sz="900" b="1" spc="6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900" b="1" spc="50" dirty="0">
                <a:solidFill>
                  <a:srgbClr val="FFFFFF"/>
                </a:solidFill>
                <a:latin typeface="Gill Sans MT"/>
                <a:cs typeface="Gill Sans MT"/>
              </a:rPr>
              <a:t>Price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63945" y="6551000"/>
            <a:ext cx="2679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FFFFFF"/>
                </a:solidFill>
                <a:latin typeface="Gill Sans MT"/>
                <a:cs typeface="Gill Sans MT"/>
              </a:rPr>
              <a:t>VAT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338785" y="6551000"/>
            <a:ext cx="516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b="1" spc="60" dirty="0">
                <a:solidFill>
                  <a:srgbClr val="FFFFFF"/>
                </a:solidFill>
                <a:latin typeface="Gill Sans MT"/>
                <a:cs typeface="Gill Sans MT"/>
              </a:rPr>
              <a:t>Amount</a:t>
            </a:r>
            <a:endParaRPr sz="900" dirty="0">
              <a:latin typeface="Gill Sans MT"/>
              <a:cs typeface="Gill Sans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32000" y="6767992"/>
            <a:ext cx="6696075" cy="326390"/>
            <a:chOff x="432000" y="6767992"/>
            <a:chExt cx="6696075" cy="326390"/>
          </a:xfrm>
        </p:grpSpPr>
        <p:sp>
          <p:nvSpPr>
            <p:cNvPr id="31" name="object 31"/>
            <p:cNvSpPr/>
            <p:nvPr/>
          </p:nvSpPr>
          <p:spPr>
            <a:xfrm>
              <a:off x="432003" y="6767992"/>
              <a:ext cx="6696075" cy="324485"/>
            </a:xfrm>
            <a:custGeom>
              <a:avLst/>
              <a:gdLst/>
              <a:ahLst/>
              <a:cxnLst/>
              <a:rect l="l" t="t" r="r" b="b"/>
              <a:pathLst>
                <a:path w="6696075" h="324484">
                  <a:moveTo>
                    <a:pt x="6695998" y="0"/>
                  </a:moveTo>
                  <a:lnTo>
                    <a:pt x="0" y="0"/>
                  </a:lnTo>
                  <a:lnTo>
                    <a:pt x="0" y="324002"/>
                  </a:lnTo>
                  <a:lnTo>
                    <a:pt x="6695998" y="324002"/>
                  </a:lnTo>
                  <a:lnTo>
                    <a:pt x="6695998" y="0"/>
                  </a:lnTo>
                  <a:close/>
                </a:path>
              </a:pathLst>
            </a:custGeom>
            <a:solidFill>
              <a:srgbClr val="F8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32000" y="7091999"/>
              <a:ext cx="6696075" cy="0"/>
            </a:xfrm>
            <a:custGeom>
              <a:avLst/>
              <a:gdLst/>
              <a:ahLst/>
              <a:cxnLst/>
              <a:rect l="l" t="t" r="r" b="b"/>
              <a:pathLst>
                <a:path w="6696075">
                  <a:moveTo>
                    <a:pt x="0" y="0"/>
                  </a:moveTo>
                  <a:lnTo>
                    <a:pt x="6695998" y="0"/>
                  </a:lnTo>
                </a:path>
              </a:pathLst>
            </a:custGeom>
            <a:ln w="3810">
              <a:solidFill>
                <a:srgbClr val="E4EA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03999" y="6856993"/>
            <a:ext cx="2875915" cy="250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944"/>
              </a:lnSpc>
              <a:spcBef>
                <a:spcPts val="100"/>
              </a:spcBef>
            </a:pPr>
            <a:r>
              <a:rPr sz="900" b="1" spc="90" dirty="0">
                <a:solidFill>
                  <a:srgbClr val="152239"/>
                </a:solidFill>
                <a:latin typeface="Gill Sans MT"/>
                <a:cs typeface="Gill Sans MT"/>
              </a:rPr>
              <a:t>Deep</a:t>
            </a:r>
            <a:r>
              <a:rPr sz="900" b="1" spc="70" dirty="0">
                <a:solidFill>
                  <a:srgbClr val="152239"/>
                </a:solidFill>
                <a:latin typeface="Gill Sans MT"/>
                <a:cs typeface="Gill Sans MT"/>
              </a:rPr>
              <a:t> </a:t>
            </a:r>
            <a:r>
              <a:rPr sz="900" b="1" spc="85" dirty="0">
                <a:solidFill>
                  <a:srgbClr val="152239"/>
                </a:solidFill>
                <a:latin typeface="Gill Sans MT"/>
                <a:cs typeface="Gill Sans MT"/>
              </a:rPr>
              <a:t>Cleaning</a:t>
            </a:r>
            <a:r>
              <a:rPr sz="900" b="1" spc="75" dirty="0">
                <a:solidFill>
                  <a:srgbClr val="152239"/>
                </a:solidFill>
                <a:latin typeface="Gill Sans MT"/>
                <a:cs typeface="Gill Sans MT"/>
              </a:rPr>
              <a:t> Service</a:t>
            </a:r>
            <a:endParaRPr sz="900">
              <a:latin typeface="Gill Sans MT"/>
              <a:cs typeface="Gill Sans MT"/>
            </a:endParaRPr>
          </a:p>
          <a:p>
            <a:pPr>
              <a:lnSpc>
                <a:spcPts val="825"/>
              </a:lnSpc>
            </a:pPr>
            <a:r>
              <a:rPr sz="800" i="1" spc="10" dirty="0">
                <a:solidFill>
                  <a:srgbClr val="6B7180"/>
                </a:solidFill>
                <a:latin typeface="Trebuchet MS"/>
                <a:cs typeface="Trebuchet MS"/>
              </a:rPr>
              <a:t>Full</a:t>
            </a:r>
            <a:r>
              <a:rPr sz="800" i="1" spc="55" dirty="0">
                <a:solidFill>
                  <a:srgbClr val="6B7180"/>
                </a:solidFill>
                <a:latin typeface="Trebuchet MS"/>
                <a:cs typeface="Trebuchet MS"/>
              </a:rPr>
              <a:t> </a:t>
            </a:r>
            <a:r>
              <a:rPr sz="800" i="1" spc="20" dirty="0">
                <a:solidFill>
                  <a:srgbClr val="6B7180"/>
                </a:solidFill>
                <a:latin typeface="Trebuchet MS"/>
                <a:cs typeface="Trebuchet MS"/>
              </a:rPr>
              <a:t>property</a:t>
            </a:r>
            <a:r>
              <a:rPr sz="800" i="1" spc="60" dirty="0">
                <a:solidFill>
                  <a:srgbClr val="6B7180"/>
                </a:solidFill>
                <a:latin typeface="Trebuchet MS"/>
                <a:cs typeface="Trebuchet MS"/>
              </a:rPr>
              <a:t> deep </a:t>
            </a:r>
            <a:r>
              <a:rPr sz="800" i="1" spc="20" dirty="0">
                <a:solidFill>
                  <a:srgbClr val="6B7180"/>
                </a:solidFill>
                <a:latin typeface="Trebuchet MS"/>
                <a:cs typeface="Trebuchet MS"/>
              </a:rPr>
              <a:t>clean</a:t>
            </a:r>
            <a:r>
              <a:rPr sz="800" i="1" spc="60" dirty="0">
                <a:solidFill>
                  <a:srgbClr val="6B7180"/>
                </a:solidFill>
                <a:latin typeface="Trebuchet MS"/>
                <a:cs typeface="Trebuchet MS"/>
              </a:rPr>
              <a:t> </a:t>
            </a:r>
            <a:r>
              <a:rPr sz="800" i="1" spc="20" dirty="0">
                <a:solidFill>
                  <a:srgbClr val="6B7180"/>
                </a:solidFill>
                <a:latin typeface="Trebuchet MS"/>
                <a:cs typeface="Trebuchet MS"/>
              </a:rPr>
              <a:t>-</a:t>
            </a:r>
            <a:r>
              <a:rPr sz="800" i="1" spc="60" dirty="0">
                <a:solidFill>
                  <a:srgbClr val="6B7180"/>
                </a:solidFill>
                <a:latin typeface="Trebuchet MS"/>
                <a:cs typeface="Trebuchet MS"/>
              </a:rPr>
              <a:t> </a:t>
            </a:r>
            <a:r>
              <a:rPr sz="800" i="1" spc="20" dirty="0">
                <a:solidFill>
                  <a:srgbClr val="6B7180"/>
                </a:solidFill>
                <a:latin typeface="Trebuchet MS"/>
                <a:cs typeface="Trebuchet MS"/>
              </a:rPr>
              <a:t>kitchen,</a:t>
            </a:r>
            <a:r>
              <a:rPr sz="800" i="1" spc="60" dirty="0">
                <a:solidFill>
                  <a:srgbClr val="6B7180"/>
                </a:solidFill>
                <a:latin typeface="Trebuchet MS"/>
                <a:cs typeface="Trebuchet MS"/>
              </a:rPr>
              <a:t> </a:t>
            </a:r>
            <a:r>
              <a:rPr sz="800" i="1" spc="20" dirty="0">
                <a:solidFill>
                  <a:srgbClr val="6B7180"/>
                </a:solidFill>
                <a:latin typeface="Trebuchet MS"/>
                <a:cs typeface="Trebuchet MS"/>
              </a:rPr>
              <a:t>bathrooms,</a:t>
            </a:r>
            <a:r>
              <a:rPr sz="800" i="1" spc="60" dirty="0">
                <a:solidFill>
                  <a:srgbClr val="6B7180"/>
                </a:solidFill>
                <a:latin typeface="Trebuchet MS"/>
                <a:cs typeface="Trebuchet MS"/>
              </a:rPr>
              <a:t> </a:t>
            </a:r>
            <a:r>
              <a:rPr sz="800" i="1" spc="10" dirty="0">
                <a:solidFill>
                  <a:srgbClr val="6B7180"/>
                </a:solidFill>
                <a:latin typeface="Trebuchet MS"/>
                <a:cs typeface="Trebuchet MS"/>
              </a:rPr>
              <a:t>all</a:t>
            </a:r>
            <a:r>
              <a:rPr sz="800" i="1" spc="60" dirty="0">
                <a:solidFill>
                  <a:srgbClr val="6B7180"/>
                </a:solidFill>
                <a:latin typeface="Trebuchet MS"/>
                <a:cs typeface="Trebuchet MS"/>
              </a:rPr>
              <a:t> </a:t>
            </a:r>
            <a:r>
              <a:rPr sz="800" i="1" spc="55" dirty="0">
                <a:solidFill>
                  <a:srgbClr val="6B7180"/>
                </a:solidFill>
                <a:latin typeface="Trebuchet MS"/>
                <a:cs typeface="Trebuchet MS"/>
              </a:rPr>
              <a:t>rooms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564001" y="6856993"/>
            <a:ext cx="2965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120" dirty="0">
                <a:solidFill>
                  <a:srgbClr val="152239"/>
                </a:solidFill>
                <a:latin typeface="Gill Sans MT"/>
                <a:cs typeface="Gill Sans MT"/>
              </a:rPr>
              <a:t>1</a:t>
            </a:r>
            <a:r>
              <a:rPr sz="900" spc="35" dirty="0">
                <a:solidFill>
                  <a:srgbClr val="152239"/>
                </a:solidFill>
                <a:latin typeface="Gill Sans MT"/>
                <a:cs typeface="Gill Sans MT"/>
              </a:rPr>
              <a:t> </a:t>
            </a:r>
            <a:r>
              <a:rPr sz="900" spc="45" dirty="0">
                <a:solidFill>
                  <a:srgbClr val="152239"/>
                </a:solidFill>
                <a:latin typeface="Gill Sans MT"/>
                <a:cs typeface="Gill Sans MT"/>
              </a:rPr>
              <a:t>job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463999" y="6856993"/>
            <a:ext cx="57658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70" dirty="0">
                <a:solidFill>
                  <a:srgbClr val="152239"/>
                </a:solidFill>
                <a:latin typeface="Gill Sans MT"/>
                <a:cs typeface="Gill Sans MT"/>
              </a:rPr>
              <a:t>GBP</a:t>
            </a:r>
            <a:endParaRPr sz="900" dirty="0">
              <a:latin typeface="Gill Sans MT"/>
              <a:cs typeface="Gill Sans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363997" y="6856993"/>
            <a:ext cx="2152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152239"/>
                </a:solidFill>
                <a:latin typeface="Gill Sans MT"/>
                <a:cs typeface="Gill Sans MT"/>
              </a:rPr>
              <a:t>N/A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435438" y="6877462"/>
            <a:ext cx="63436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152239"/>
                </a:solidFill>
                <a:latin typeface="Gill Sans MT"/>
                <a:cs typeface="Gill Sans MT"/>
              </a:rPr>
              <a:t>GBP</a:t>
            </a:r>
            <a:endParaRPr sz="900" dirty="0">
              <a:latin typeface="Gill Sans MT"/>
              <a:cs typeface="Gill Sans MT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32000" y="7415045"/>
            <a:ext cx="6696075" cy="0"/>
          </a:xfrm>
          <a:custGeom>
            <a:avLst/>
            <a:gdLst/>
            <a:ahLst/>
            <a:cxnLst/>
            <a:rect l="l" t="t" r="r" b="b"/>
            <a:pathLst>
              <a:path w="6696075">
                <a:moveTo>
                  <a:pt x="0" y="0"/>
                </a:moveTo>
                <a:lnTo>
                  <a:pt x="6695998" y="0"/>
                </a:lnTo>
              </a:path>
            </a:pathLst>
          </a:custGeom>
          <a:ln w="3175">
            <a:solidFill>
              <a:srgbClr val="E4EA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491299" y="7180995"/>
            <a:ext cx="1458595" cy="250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44"/>
              </a:lnSpc>
              <a:spcBef>
                <a:spcPts val="100"/>
              </a:spcBef>
            </a:pPr>
            <a:r>
              <a:rPr sz="900" b="1" spc="75" dirty="0">
                <a:solidFill>
                  <a:srgbClr val="152239"/>
                </a:solidFill>
                <a:latin typeface="Gill Sans MT"/>
                <a:cs typeface="Gill Sans MT"/>
              </a:rPr>
              <a:t>Oven</a:t>
            </a:r>
            <a:r>
              <a:rPr sz="900" b="1" spc="65" dirty="0">
                <a:solidFill>
                  <a:srgbClr val="152239"/>
                </a:solidFill>
                <a:latin typeface="Gill Sans MT"/>
                <a:cs typeface="Gill Sans MT"/>
              </a:rPr>
              <a:t> </a:t>
            </a:r>
            <a:r>
              <a:rPr sz="900" b="1" spc="90" dirty="0">
                <a:solidFill>
                  <a:srgbClr val="152239"/>
                </a:solidFill>
                <a:latin typeface="Gill Sans MT"/>
                <a:cs typeface="Gill Sans MT"/>
              </a:rPr>
              <a:t>Deep</a:t>
            </a:r>
            <a:r>
              <a:rPr sz="900" b="1" spc="70" dirty="0">
                <a:solidFill>
                  <a:srgbClr val="152239"/>
                </a:solidFill>
                <a:latin typeface="Gill Sans MT"/>
                <a:cs typeface="Gill Sans MT"/>
              </a:rPr>
              <a:t> </a:t>
            </a:r>
            <a:r>
              <a:rPr sz="900" b="1" spc="60" dirty="0">
                <a:solidFill>
                  <a:srgbClr val="152239"/>
                </a:solidFill>
                <a:latin typeface="Gill Sans MT"/>
                <a:cs typeface="Gill Sans MT"/>
              </a:rPr>
              <a:t>Clean</a:t>
            </a:r>
            <a:endParaRPr sz="900">
              <a:latin typeface="Gill Sans MT"/>
              <a:cs typeface="Gill Sans MT"/>
            </a:endParaRPr>
          </a:p>
          <a:p>
            <a:pPr marL="12700">
              <a:lnSpc>
                <a:spcPts val="825"/>
              </a:lnSpc>
            </a:pPr>
            <a:r>
              <a:rPr sz="800" i="1" spc="10" dirty="0">
                <a:solidFill>
                  <a:srgbClr val="6B7180"/>
                </a:solidFill>
                <a:latin typeface="Trebuchet MS"/>
                <a:cs typeface="Trebuchet MS"/>
              </a:rPr>
              <a:t>Inside</a:t>
            </a:r>
            <a:r>
              <a:rPr sz="800" i="1" spc="105" dirty="0">
                <a:solidFill>
                  <a:srgbClr val="6B7180"/>
                </a:solidFill>
                <a:latin typeface="Trebuchet MS"/>
                <a:cs typeface="Trebuchet MS"/>
              </a:rPr>
              <a:t> </a:t>
            </a:r>
            <a:r>
              <a:rPr sz="800" i="1" spc="10" dirty="0">
                <a:solidFill>
                  <a:srgbClr val="6B7180"/>
                </a:solidFill>
                <a:latin typeface="Trebuchet MS"/>
                <a:cs typeface="Trebuchet MS"/>
              </a:rPr>
              <a:t>oven,</a:t>
            </a:r>
            <a:r>
              <a:rPr sz="800" i="1" spc="105" dirty="0">
                <a:solidFill>
                  <a:srgbClr val="6B7180"/>
                </a:solidFill>
                <a:latin typeface="Trebuchet MS"/>
                <a:cs typeface="Trebuchet MS"/>
              </a:rPr>
              <a:t> </a:t>
            </a:r>
            <a:r>
              <a:rPr sz="800" i="1" spc="55" dirty="0">
                <a:solidFill>
                  <a:srgbClr val="6B7180"/>
                </a:solidFill>
                <a:latin typeface="Trebuchet MS"/>
                <a:cs typeface="Trebuchet MS"/>
              </a:rPr>
              <a:t>racks</a:t>
            </a:r>
            <a:r>
              <a:rPr sz="800" i="1" spc="110" dirty="0">
                <a:solidFill>
                  <a:srgbClr val="6B7180"/>
                </a:solidFill>
                <a:latin typeface="Trebuchet MS"/>
                <a:cs typeface="Trebuchet MS"/>
              </a:rPr>
              <a:t> </a:t>
            </a:r>
            <a:r>
              <a:rPr sz="800" i="1" spc="60" dirty="0">
                <a:solidFill>
                  <a:srgbClr val="6B7180"/>
                </a:solidFill>
                <a:latin typeface="Trebuchet MS"/>
                <a:cs typeface="Trebuchet MS"/>
              </a:rPr>
              <a:t>and</a:t>
            </a:r>
            <a:r>
              <a:rPr sz="800" i="1" spc="105" dirty="0">
                <a:solidFill>
                  <a:srgbClr val="6B7180"/>
                </a:solidFill>
                <a:latin typeface="Trebuchet MS"/>
                <a:cs typeface="Trebuchet MS"/>
              </a:rPr>
              <a:t> </a:t>
            </a:r>
            <a:r>
              <a:rPr sz="800" i="1" spc="-10" dirty="0">
                <a:solidFill>
                  <a:srgbClr val="6B7180"/>
                </a:solidFill>
                <a:latin typeface="Trebuchet MS"/>
                <a:cs typeface="Trebuchet MS"/>
              </a:rPr>
              <a:t>trays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551301" y="7180995"/>
            <a:ext cx="3092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20" dirty="0">
                <a:solidFill>
                  <a:srgbClr val="152239"/>
                </a:solidFill>
                <a:latin typeface="Gill Sans MT"/>
                <a:cs typeface="Gill Sans MT"/>
              </a:rPr>
              <a:t>1</a:t>
            </a:r>
            <a:r>
              <a:rPr sz="900" spc="35" dirty="0">
                <a:solidFill>
                  <a:srgbClr val="152239"/>
                </a:solidFill>
                <a:latin typeface="Gill Sans MT"/>
                <a:cs typeface="Gill Sans MT"/>
              </a:rPr>
              <a:t> </a:t>
            </a:r>
            <a:r>
              <a:rPr sz="900" spc="45" dirty="0">
                <a:solidFill>
                  <a:srgbClr val="152239"/>
                </a:solidFill>
                <a:latin typeface="Gill Sans MT"/>
                <a:cs typeface="Gill Sans MT"/>
              </a:rPr>
              <a:t>job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451299" y="7180995"/>
            <a:ext cx="60706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70" dirty="0">
                <a:solidFill>
                  <a:srgbClr val="152239"/>
                </a:solidFill>
                <a:latin typeface="Gill Sans MT"/>
                <a:cs typeface="Gill Sans MT"/>
              </a:rPr>
              <a:t>GBP</a:t>
            </a:r>
            <a:endParaRPr sz="900" dirty="0">
              <a:latin typeface="Gill Sans MT"/>
              <a:cs typeface="Gill Sans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351297" y="7180995"/>
            <a:ext cx="2279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152239"/>
                </a:solidFill>
                <a:latin typeface="Gill Sans MT"/>
                <a:cs typeface="Gill Sans MT"/>
              </a:rPr>
              <a:t>N/A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449263" y="7180995"/>
            <a:ext cx="64706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152239"/>
                </a:solidFill>
                <a:latin typeface="Gill Sans MT"/>
                <a:cs typeface="Gill Sans MT"/>
              </a:rPr>
              <a:t>GBP</a:t>
            </a:r>
            <a:endParaRPr sz="900" dirty="0">
              <a:latin typeface="Gill Sans MT"/>
              <a:cs typeface="Gill Sans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32000" y="7415996"/>
            <a:ext cx="6696075" cy="326390"/>
            <a:chOff x="432000" y="7415996"/>
            <a:chExt cx="6696075" cy="326390"/>
          </a:xfrm>
        </p:grpSpPr>
        <p:sp>
          <p:nvSpPr>
            <p:cNvPr id="45" name="object 45"/>
            <p:cNvSpPr/>
            <p:nvPr/>
          </p:nvSpPr>
          <p:spPr>
            <a:xfrm>
              <a:off x="432003" y="7415996"/>
              <a:ext cx="6696075" cy="324485"/>
            </a:xfrm>
            <a:custGeom>
              <a:avLst/>
              <a:gdLst/>
              <a:ahLst/>
              <a:cxnLst/>
              <a:rect l="l" t="t" r="r" b="b"/>
              <a:pathLst>
                <a:path w="6696075" h="324484">
                  <a:moveTo>
                    <a:pt x="6695998" y="0"/>
                  </a:moveTo>
                  <a:lnTo>
                    <a:pt x="0" y="0"/>
                  </a:lnTo>
                  <a:lnTo>
                    <a:pt x="0" y="324002"/>
                  </a:lnTo>
                  <a:lnTo>
                    <a:pt x="6695998" y="324002"/>
                  </a:lnTo>
                  <a:lnTo>
                    <a:pt x="6695998" y="0"/>
                  </a:lnTo>
                  <a:close/>
                </a:path>
              </a:pathLst>
            </a:custGeom>
            <a:solidFill>
              <a:srgbClr val="F8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32000" y="7740000"/>
              <a:ext cx="6696075" cy="0"/>
            </a:xfrm>
            <a:custGeom>
              <a:avLst/>
              <a:gdLst/>
              <a:ahLst/>
              <a:cxnLst/>
              <a:rect l="l" t="t" r="r" b="b"/>
              <a:pathLst>
                <a:path w="6696075">
                  <a:moveTo>
                    <a:pt x="0" y="0"/>
                  </a:moveTo>
                  <a:lnTo>
                    <a:pt x="6695998" y="0"/>
                  </a:lnTo>
                </a:path>
              </a:pathLst>
            </a:custGeom>
            <a:ln w="3810">
              <a:solidFill>
                <a:srgbClr val="E4EA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491299" y="7504998"/>
            <a:ext cx="2045970" cy="250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44"/>
              </a:lnSpc>
              <a:spcBef>
                <a:spcPts val="100"/>
              </a:spcBef>
            </a:pPr>
            <a:r>
              <a:rPr sz="900" b="1" spc="70" dirty="0">
                <a:solidFill>
                  <a:srgbClr val="152239"/>
                </a:solidFill>
                <a:latin typeface="Gill Sans MT"/>
                <a:cs typeface="Gill Sans MT"/>
              </a:rPr>
              <a:t>Window</a:t>
            </a:r>
            <a:r>
              <a:rPr sz="900" b="1" spc="75" dirty="0">
                <a:solidFill>
                  <a:srgbClr val="152239"/>
                </a:solidFill>
                <a:latin typeface="Gill Sans MT"/>
                <a:cs typeface="Gill Sans MT"/>
              </a:rPr>
              <a:t> </a:t>
            </a:r>
            <a:r>
              <a:rPr sz="900" b="1" spc="85" dirty="0">
                <a:solidFill>
                  <a:srgbClr val="152239"/>
                </a:solidFill>
                <a:latin typeface="Gill Sans MT"/>
                <a:cs typeface="Gill Sans MT"/>
              </a:rPr>
              <a:t>Cleaning</a:t>
            </a:r>
            <a:r>
              <a:rPr sz="900" b="1" spc="80" dirty="0">
                <a:solidFill>
                  <a:srgbClr val="152239"/>
                </a:solidFill>
                <a:latin typeface="Gill Sans MT"/>
                <a:cs typeface="Gill Sans MT"/>
              </a:rPr>
              <a:t> </a:t>
            </a:r>
            <a:r>
              <a:rPr sz="900" b="1" spc="55" dirty="0">
                <a:solidFill>
                  <a:srgbClr val="152239"/>
                </a:solidFill>
                <a:latin typeface="Gill Sans MT"/>
                <a:cs typeface="Gill Sans MT"/>
              </a:rPr>
              <a:t>(Interior)</a:t>
            </a:r>
            <a:endParaRPr sz="900">
              <a:latin typeface="Gill Sans MT"/>
              <a:cs typeface="Gill Sans MT"/>
            </a:endParaRPr>
          </a:p>
          <a:p>
            <a:pPr marL="12700">
              <a:lnSpc>
                <a:spcPts val="825"/>
              </a:lnSpc>
            </a:pPr>
            <a:r>
              <a:rPr sz="800" i="1" spc="10" dirty="0">
                <a:solidFill>
                  <a:srgbClr val="6B7180"/>
                </a:solidFill>
                <a:latin typeface="Trebuchet MS"/>
                <a:cs typeface="Trebuchet MS"/>
              </a:rPr>
              <a:t>All</a:t>
            </a:r>
            <a:r>
              <a:rPr sz="800" i="1" spc="60" dirty="0">
                <a:solidFill>
                  <a:srgbClr val="6B7180"/>
                </a:solidFill>
                <a:latin typeface="Trebuchet MS"/>
                <a:cs typeface="Trebuchet MS"/>
              </a:rPr>
              <a:t> </a:t>
            </a:r>
            <a:r>
              <a:rPr sz="800" i="1" spc="10" dirty="0">
                <a:solidFill>
                  <a:srgbClr val="6B7180"/>
                </a:solidFill>
                <a:latin typeface="Trebuchet MS"/>
                <a:cs typeface="Trebuchet MS"/>
              </a:rPr>
              <a:t>interior</a:t>
            </a:r>
            <a:r>
              <a:rPr sz="800" i="1" spc="65" dirty="0">
                <a:solidFill>
                  <a:srgbClr val="6B7180"/>
                </a:solidFill>
                <a:latin typeface="Trebuchet MS"/>
                <a:cs typeface="Trebuchet MS"/>
              </a:rPr>
              <a:t> </a:t>
            </a:r>
            <a:r>
              <a:rPr sz="800" i="1" spc="20" dirty="0">
                <a:solidFill>
                  <a:srgbClr val="6B7180"/>
                </a:solidFill>
                <a:latin typeface="Trebuchet MS"/>
                <a:cs typeface="Trebuchet MS"/>
              </a:rPr>
              <a:t>windows</a:t>
            </a:r>
            <a:r>
              <a:rPr sz="800" i="1" spc="65" dirty="0">
                <a:solidFill>
                  <a:srgbClr val="6B7180"/>
                </a:solidFill>
                <a:latin typeface="Trebuchet MS"/>
                <a:cs typeface="Trebuchet MS"/>
              </a:rPr>
              <a:t> </a:t>
            </a:r>
            <a:r>
              <a:rPr sz="800" i="1" spc="50" dirty="0">
                <a:solidFill>
                  <a:srgbClr val="6B7180"/>
                </a:solidFill>
                <a:latin typeface="Trebuchet MS"/>
                <a:cs typeface="Trebuchet MS"/>
              </a:rPr>
              <a:t>cleaned</a:t>
            </a:r>
            <a:r>
              <a:rPr sz="800" i="1" spc="65" dirty="0">
                <a:solidFill>
                  <a:srgbClr val="6B7180"/>
                </a:solidFill>
                <a:latin typeface="Trebuchet MS"/>
                <a:cs typeface="Trebuchet MS"/>
              </a:rPr>
              <a:t> </a:t>
            </a:r>
            <a:r>
              <a:rPr sz="800" i="1" spc="20" dirty="0">
                <a:solidFill>
                  <a:srgbClr val="6B7180"/>
                </a:solidFill>
                <a:latin typeface="Trebuchet MS"/>
                <a:cs typeface="Trebuchet MS"/>
              </a:rPr>
              <a:t>streak-</a:t>
            </a:r>
            <a:r>
              <a:rPr sz="800" i="1" spc="-20" dirty="0">
                <a:solidFill>
                  <a:srgbClr val="6B7180"/>
                </a:solidFill>
                <a:latin typeface="Trebuchet MS"/>
                <a:cs typeface="Trebuchet MS"/>
              </a:rPr>
              <a:t>free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551301" y="7504998"/>
            <a:ext cx="6280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20" dirty="0">
                <a:solidFill>
                  <a:srgbClr val="152239"/>
                </a:solidFill>
                <a:latin typeface="Gill Sans MT"/>
                <a:cs typeface="Gill Sans MT"/>
              </a:rPr>
              <a:t>8</a:t>
            </a:r>
            <a:r>
              <a:rPr sz="900" spc="35" dirty="0">
                <a:solidFill>
                  <a:srgbClr val="152239"/>
                </a:solidFill>
                <a:latin typeface="Gill Sans MT"/>
                <a:cs typeface="Gill Sans MT"/>
              </a:rPr>
              <a:t> </a:t>
            </a:r>
            <a:r>
              <a:rPr sz="900" spc="75" dirty="0">
                <a:solidFill>
                  <a:srgbClr val="152239"/>
                </a:solidFill>
                <a:latin typeface="Gill Sans MT"/>
                <a:cs typeface="Gill Sans MT"/>
              </a:rPr>
              <a:t>windows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451299" y="7504998"/>
            <a:ext cx="52451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70" dirty="0">
                <a:solidFill>
                  <a:srgbClr val="152239"/>
                </a:solidFill>
                <a:latin typeface="Gill Sans MT"/>
                <a:cs typeface="Gill Sans MT"/>
              </a:rPr>
              <a:t>GBP</a:t>
            </a:r>
            <a:endParaRPr sz="900" dirty="0">
              <a:latin typeface="Gill Sans MT"/>
              <a:cs typeface="Gill Sans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351297" y="7504998"/>
            <a:ext cx="2279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152239"/>
                </a:solidFill>
                <a:latin typeface="Gill Sans MT"/>
                <a:cs typeface="Gill Sans MT"/>
              </a:rPr>
              <a:t>N/A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449263" y="7504998"/>
            <a:ext cx="63246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152239"/>
                </a:solidFill>
                <a:latin typeface="Gill Sans MT"/>
                <a:cs typeface="Gill Sans MT"/>
              </a:rPr>
              <a:t>GBP</a:t>
            </a:r>
            <a:endParaRPr sz="900" dirty="0">
              <a:latin typeface="Gill Sans MT"/>
              <a:cs typeface="Gill Sans MT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432000" y="8064000"/>
            <a:ext cx="6696075" cy="0"/>
          </a:xfrm>
          <a:custGeom>
            <a:avLst/>
            <a:gdLst/>
            <a:ahLst/>
            <a:cxnLst/>
            <a:rect l="l" t="t" r="r" b="b"/>
            <a:pathLst>
              <a:path w="6696075">
                <a:moveTo>
                  <a:pt x="0" y="0"/>
                </a:moveTo>
                <a:lnTo>
                  <a:pt x="6695998" y="0"/>
                </a:lnTo>
              </a:path>
            </a:pathLst>
          </a:custGeom>
          <a:ln w="3810">
            <a:solidFill>
              <a:srgbClr val="E4EA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491299" y="7829001"/>
            <a:ext cx="2216150" cy="250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44"/>
              </a:lnSpc>
              <a:spcBef>
                <a:spcPts val="100"/>
              </a:spcBef>
            </a:pPr>
            <a:r>
              <a:rPr sz="900" b="1" spc="85" dirty="0">
                <a:solidFill>
                  <a:srgbClr val="152239"/>
                </a:solidFill>
                <a:latin typeface="Gill Sans MT"/>
                <a:cs typeface="Gill Sans MT"/>
              </a:rPr>
              <a:t>Cleaning</a:t>
            </a:r>
            <a:r>
              <a:rPr sz="900" b="1" spc="80" dirty="0">
                <a:solidFill>
                  <a:srgbClr val="152239"/>
                </a:solidFill>
                <a:latin typeface="Gill Sans MT"/>
                <a:cs typeface="Gill Sans MT"/>
              </a:rPr>
              <a:t> </a:t>
            </a:r>
            <a:r>
              <a:rPr sz="900" b="1" spc="85" dirty="0">
                <a:solidFill>
                  <a:srgbClr val="152239"/>
                </a:solidFill>
                <a:latin typeface="Gill Sans MT"/>
                <a:cs typeface="Gill Sans MT"/>
              </a:rPr>
              <a:t>Products</a:t>
            </a:r>
            <a:r>
              <a:rPr sz="900" b="1" spc="80" dirty="0">
                <a:solidFill>
                  <a:srgbClr val="152239"/>
                </a:solidFill>
                <a:latin typeface="Gill Sans MT"/>
                <a:cs typeface="Gill Sans MT"/>
              </a:rPr>
              <a:t> </a:t>
            </a:r>
            <a:r>
              <a:rPr sz="900" b="1" spc="105" dirty="0">
                <a:solidFill>
                  <a:srgbClr val="152239"/>
                </a:solidFill>
                <a:latin typeface="Gill Sans MT"/>
                <a:cs typeface="Gill Sans MT"/>
              </a:rPr>
              <a:t>&amp;</a:t>
            </a:r>
            <a:r>
              <a:rPr sz="900" b="1" spc="85" dirty="0">
                <a:solidFill>
                  <a:srgbClr val="152239"/>
                </a:solidFill>
                <a:latin typeface="Gill Sans MT"/>
                <a:cs typeface="Gill Sans MT"/>
              </a:rPr>
              <a:t> </a:t>
            </a:r>
            <a:r>
              <a:rPr sz="900" b="1" spc="95" dirty="0">
                <a:solidFill>
                  <a:srgbClr val="152239"/>
                </a:solidFill>
                <a:latin typeface="Gill Sans MT"/>
                <a:cs typeface="Gill Sans MT"/>
              </a:rPr>
              <a:t>Supplies</a:t>
            </a:r>
            <a:endParaRPr sz="900">
              <a:latin typeface="Gill Sans MT"/>
              <a:cs typeface="Gill Sans MT"/>
            </a:endParaRPr>
          </a:p>
          <a:p>
            <a:pPr marL="12700">
              <a:lnSpc>
                <a:spcPts val="825"/>
              </a:lnSpc>
            </a:pPr>
            <a:r>
              <a:rPr sz="800" i="1" spc="20" dirty="0">
                <a:solidFill>
                  <a:srgbClr val="6B7180"/>
                </a:solidFill>
                <a:latin typeface="Trebuchet MS"/>
                <a:cs typeface="Trebuchet MS"/>
              </a:rPr>
              <a:t>Professional</a:t>
            </a:r>
            <a:r>
              <a:rPr sz="800" i="1" spc="150" dirty="0">
                <a:solidFill>
                  <a:srgbClr val="6B7180"/>
                </a:solidFill>
                <a:latin typeface="Trebuchet MS"/>
                <a:cs typeface="Trebuchet MS"/>
              </a:rPr>
              <a:t> </a:t>
            </a:r>
            <a:r>
              <a:rPr sz="800" i="1" spc="20" dirty="0">
                <a:solidFill>
                  <a:srgbClr val="6B7180"/>
                </a:solidFill>
                <a:latin typeface="Trebuchet MS"/>
                <a:cs typeface="Trebuchet MS"/>
              </a:rPr>
              <a:t>eco-friendly</a:t>
            </a:r>
            <a:r>
              <a:rPr sz="800" i="1" spc="150" dirty="0">
                <a:solidFill>
                  <a:srgbClr val="6B7180"/>
                </a:solidFill>
                <a:latin typeface="Trebuchet MS"/>
                <a:cs typeface="Trebuchet MS"/>
              </a:rPr>
              <a:t> </a:t>
            </a:r>
            <a:r>
              <a:rPr sz="800" i="1" spc="20" dirty="0">
                <a:solidFill>
                  <a:srgbClr val="6B7180"/>
                </a:solidFill>
                <a:latin typeface="Trebuchet MS"/>
                <a:cs typeface="Trebuchet MS"/>
              </a:rPr>
              <a:t>cleaning</a:t>
            </a:r>
            <a:r>
              <a:rPr sz="800" i="1" spc="150" dirty="0">
                <a:solidFill>
                  <a:srgbClr val="6B7180"/>
                </a:solidFill>
                <a:latin typeface="Trebuchet MS"/>
                <a:cs typeface="Trebuchet MS"/>
              </a:rPr>
              <a:t> </a:t>
            </a:r>
            <a:r>
              <a:rPr sz="800" i="1" spc="-10" dirty="0">
                <a:solidFill>
                  <a:srgbClr val="6B7180"/>
                </a:solidFill>
                <a:latin typeface="Trebuchet MS"/>
                <a:cs typeface="Trebuchet MS"/>
              </a:rPr>
              <a:t>products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551301" y="7829001"/>
            <a:ext cx="3092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20" dirty="0">
                <a:solidFill>
                  <a:srgbClr val="152239"/>
                </a:solidFill>
                <a:latin typeface="Gill Sans MT"/>
                <a:cs typeface="Gill Sans MT"/>
              </a:rPr>
              <a:t>1</a:t>
            </a:r>
            <a:r>
              <a:rPr sz="900" spc="35" dirty="0">
                <a:solidFill>
                  <a:srgbClr val="152239"/>
                </a:solidFill>
                <a:latin typeface="Gill Sans MT"/>
                <a:cs typeface="Gill Sans MT"/>
              </a:rPr>
              <a:t> </a:t>
            </a:r>
            <a:r>
              <a:rPr sz="900" spc="70" dirty="0">
                <a:solidFill>
                  <a:srgbClr val="152239"/>
                </a:solidFill>
                <a:latin typeface="Gill Sans MT"/>
                <a:cs typeface="Gill Sans MT"/>
              </a:rPr>
              <a:t>set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451299" y="7829001"/>
            <a:ext cx="58928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70" dirty="0">
                <a:solidFill>
                  <a:srgbClr val="152239"/>
                </a:solidFill>
                <a:latin typeface="Gill Sans MT"/>
                <a:cs typeface="Gill Sans MT"/>
              </a:rPr>
              <a:t>GBP</a:t>
            </a:r>
            <a:endParaRPr sz="900" dirty="0">
              <a:latin typeface="Gill Sans MT"/>
              <a:cs typeface="Gill Sans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351297" y="7829001"/>
            <a:ext cx="2279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152239"/>
                </a:solidFill>
                <a:latin typeface="Gill Sans MT"/>
                <a:cs typeface="Gill Sans MT"/>
              </a:rPr>
              <a:t>N/A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449263" y="7829001"/>
            <a:ext cx="64706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152239"/>
                </a:solidFill>
                <a:latin typeface="Gill Sans MT"/>
                <a:cs typeface="Gill Sans MT"/>
              </a:rPr>
              <a:t>GBP</a:t>
            </a:r>
            <a:endParaRPr sz="900" dirty="0">
              <a:latin typeface="Gill Sans MT"/>
              <a:cs typeface="Gill Sans MT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32000" y="8064000"/>
            <a:ext cx="6696075" cy="0"/>
          </a:xfrm>
          <a:custGeom>
            <a:avLst/>
            <a:gdLst/>
            <a:ahLst/>
            <a:cxnLst/>
            <a:rect l="l" t="t" r="r" b="b"/>
            <a:pathLst>
              <a:path w="6696075">
                <a:moveTo>
                  <a:pt x="0" y="0"/>
                </a:moveTo>
                <a:lnTo>
                  <a:pt x="6695998" y="0"/>
                </a:lnTo>
              </a:path>
            </a:pathLst>
          </a:custGeom>
          <a:ln w="3810">
            <a:solidFill>
              <a:srgbClr val="E4EA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959999" y="8244001"/>
            <a:ext cx="3168015" cy="1008380"/>
          </a:xfrm>
          <a:custGeom>
            <a:avLst/>
            <a:gdLst/>
            <a:ahLst/>
            <a:cxnLst/>
            <a:rect l="l" t="t" r="r" b="b"/>
            <a:pathLst>
              <a:path w="3168015" h="1008379">
                <a:moveTo>
                  <a:pt x="3060001" y="0"/>
                </a:moveTo>
                <a:lnTo>
                  <a:pt x="108000" y="0"/>
                </a:lnTo>
                <a:lnTo>
                  <a:pt x="65938" y="8479"/>
                </a:lnTo>
                <a:lnTo>
                  <a:pt x="31611" y="31611"/>
                </a:lnTo>
                <a:lnTo>
                  <a:pt x="8479" y="65938"/>
                </a:lnTo>
                <a:lnTo>
                  <a:pt x="0" y="108000"/>
                </a:lnTo>
                <a:lnTo>
                  <a:pt x="0" y="899998"/>
                </a:lnTo>
                <a:lnTo>
                  <a:pt x="8479" y="942060"/>
                </a:lnTo>
                <a:lnTo>
                  <a:pt x="31611" y="976387"/>
                </a:lnTo>
                <a:lnTo>
                  <a:pt x="65938" y="999519"/>
                </a:lnTo>
                <a:lnTo>
                  <a:pt x="108000" y="1007999"/>
                </a:lnTo>
                <a:lnTo>
                  <a:pt x="3060001" y="1007999"/>
                </a:lnTo>
                <a:lnTo>
                  <a:pt x="3102063" y="999519"/>
                </a:lnTo>
                <a:lnTo>
                  <a:pt x="3136390" y="976387"/>
                </a:lnTo>
                <a:lnTo>
                  <a:pt x="3159522" y="942060"/>
                </a:lnTo>
                <a:lnTo>
                  <a:pt x="3168002" y="899998"/>
                </a:lnTo>
                <a:lnTo>
                  <a:pt x="3168002" y="108000"/>
                </a:lnTo>
                <a:lnTo>
                  <a:pt x="3159522" y="65938"/>
                </a:lnTo>
                <a:lnTo>
                  <a:pt x="3136390" y="31611"/>
                </a:lnTo>
                <a:lnTo>
                  <a:pt x="3102063" y="8479"/>
                </a:lnTo>
                <a:lnTo>
                  <a:pt x="3060001" y="0"/>
                </a:lnTo>
                <a:close/>
              </a:path>
            </a:pathLst>
          </a:custGeom>
          <a:solidFill>
            <a:srgbClr val="F4F8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4127296" y="8279000"/>
            <a:ext cx="5429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85" dirty="0">
                <a:solidFill>
                  <a:srgbClr val="6B7180"/>
                </a:solidFill>
                <a:latin typeface="Gill Sans MT"/>
                <a:cs typeface="Gill Sans MT"/>
              </a:rPr>
              <a:t>Subtotal: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127296" y="8566998"/>
            <a:ext cx="597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B7180"/>
                </a:solidFill>
                <a:latin typeface="Gill Sans MT"/>
                <a:cs typeface="Gill Sans MT"/>
              </a:rPr>
              <a:t>VAT</a:t>
            </a:r>
            <a:r>
              <a:rPr sz="900" spc="135" dirty="0">
                <a:solidFill>
                  <a:srgbClr val="6B7180"/>
                </a:solidFill>
                <a:latin typeface="Gill Sans MT"/>
                <a:cs typeface="Gill Sans MT"/>
              </a:rPr>
              <a:t> </a:t>
            </a:r>
            <a:r>
              <a:rPr sz="900" spc="105" dirty="0">
                <a:solidFill>
                  <a:srgbClr val="6B7180"/>
                </a:solidFill>
                <a:latin typeface="Gill Sans MT"/>
                <a:cs typeface="Gill Sans MT"/>
              </a:rPr>
              <a:t>(0%):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3959999" y="8820001"/>
            <a:ext cx="3168015" cy="288290"/>
          </a:xfrm>
          <a:custGeom>
            <a:avLst/>
            <a:gdLst/>
            <a:ahLst/>
            <a:cxnLst/>
            <a:rect l="l" t="t" r="r" b="b"/>
            <a:pathLst>
              <a:path w="3168015" h="288290">
                <a:moveTo>
                  <a:pt x="3060001" y="0"/>
                </a:moveTo>
                <a:lnTo>
                  <a:pt x="108000" y="0"/>
                </a:lnTo>
                <a:lnTo>
                  <a:pt x="65938" y="8479"/>
                </a:lnTo>
                <a:lnTo>
                  <a:pt x="31611" y="31611"/>
                </a:lnTo>
                <a:lnTo>
                  <a:pt x="8479" y="65938"/>
                </a:lnTo>
                <a:lnTo>
                  <a:pt x="0" y="108000"/>
                </a:lnTo>
                <a:lnTo>
                  <a:pt x="0" y="179997"/>
                </a:lnTo>
                <a:lnTo>
                  <a:pt x="8479" y="222059"/>
                </a:lnTo>
                <a:lnTo>
                  <a:pt x="31611" y="256386"/>
                </a:lnTo>
                <a:lnTo>
                  <a:pt x="65938" y="279518"/>
                </a:lnTo>
                <a:lnTo>
                  <a:pt x="108000" y="287997"/>
                </a:lnTo>
                <a:lnTo>
                  <a:pt x="3060001" y="287997"/>
                </a:lnTo>
                <a:lnTo>
                  <a:pt x="3102063" y="279518"/>
                </a:lnTo>
                <a:lnTo>
                  <a:pt x="3136390" y="256386"/>
                </a:lnTo>
                <a:lnTo>
                  <a:pt x="3159522" y="222059"/>
                </a:lnTo>
                <a:lnTo>
                  <a:pt x="3168002" y="179997"/>
                </a:lnTo>
                <a:lnTo>
                  <a:pt x="3168002" y="108000"/>
                </a:lnTo>
                <a:lnTo>
                  <a:pt x="3159522" y="65938"/>
                </a:lnTo>
                <a:lnTo>
                  <a:pt x="3136390" y="31611"/>
                </a:lnTo>
                <a:lnTo>
                  <a:pt x="3102063" y="8479"/>
                </a:lnTo>
                <a:lnTo>
                  <a:pt x="3060001" y="0"/>
                </a:lnTo>
                <a:close/>
              </a:path>
            </a:pathLst>
          </a:custGeom>
          <a:solidFill>
            <a:srgbClr val="1522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4160452" y="8873012"/>
            <a:ext cx="9613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Gill Sans MT"/>
                <a:cs typeface="Gill Sans MT"/>
              </a:rPr>
              <a:t>TOTAL</a:t>
            </a:r>
            <a:r>
              <a:rPr sz="1100" b="1" spc="-5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100" b="1" spc="-20" dirty="0">
                <a:solidFill>
                  <a:srgbClr val="FFFFFF"/>
                </a:solidFill>
                <a:latin typeface="Gill Sans MT"/>
                <a:cs typeface="Gill Sans MT"/>
              </a:rPr>
              <a:t>DUE:</a:t>
            </a:r>
            <a:endParaRPr sz="1100" dirty="0">
              <a:latin typeface="Gill Sans MT"/>
              <a:cs typeface="Gill Sans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944917" y="8320564"/>
            <a:ext cx="1054735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985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152239"/>
                </a:solidFill>
                <a:latin typeface="Gill Sans MT"/>
                <a:cs typeface="Gill Sans MT"/>
              </a:rPr>
              <a:t>GBP</a:t>
            </a:r>
            <a:endParaRPr sz="900" dirty="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900" dirty="0">
              <a:latin typeface="Gill Sans MT"/>
              <a:cs typeface="Gill Sans MT"/>
            </a:endParaRPr>
          </a:p>
          <a:p>
            <a:pPr marL="419734">
              <a:lnSpc>
                <a:spcPct val="100000"/>
              </a:lnSpc>
            </a:pPr>
            <a:r>
              <a:rPr sz="900" b="1" dirty="0">
                <a:solidFill>
                  <a:srgbClr val="152239"/>
                </a:solidFill>
                <a:latin typeface="Gill Sans MT"/>
                <a:cs typeface="Gill Sans MT"/>
              </a:rPr>
              <a:t>GBP</a:t>
            </a:r>
            <a:endParaRPr sz="90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200" b="1" spc="50" dirty="0">
                <a:solidFill>
                  <a:srgbClr val="20C6A8"/>
                </a:solidFill>
                <a:latin typeface="Gill Sans MT"/>
                <a:cs typeface="Gill Sans MT"/>
              </a:rPr>
              <a:t>GBP</a:t>
            </a:r>
            <a:endParaRPr sz="1200" dirty="0">
              <a:latin typeface="Gill Sans MT"/>
              <a:cs typeface="Gill Sans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80301" y="8630442"/>
            <a:ext cx="17367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152239"/>
                </a:solidFill>
                <a:latin typeface="Gill Sans MT"/>
                <a:cs typeface="Gill Sans MT"/>
              </a:rPr>
              <a:t>PAYMENT</a:t>
            </a:r>
            <a:r>
              <a:rPr sz="900" b="1" spc="110" dirty="0">
                <a:solidFill>
                  <a:srgbClr val="152239"/>
                </a:solidFill>
                <a:latin typeface="Gill Sans MT"/>
                <a:cs typeface="Gill Sans MT"/>
              </a:rPr>
              <a:t> </a:t>
            </a:r>
            <a:r>
              <a:rPr sz="900" b="1" spc="55" dirty="0">
                <a:solidFill>
                  <a:srgbClr val="152239"/>
                </a:solidFill>
                <a:latin typeface="Gill Sans MT"/>
                <a:cs typeface="Gill Sans MT"/>
              </a:rPr>
              <a:t>TERMS</a:t>
            </a:r>
            <a:r>
              <a:rPr sz="900" b="1" spc="110" dirty="0">
                <a:solidFill>
                  <a:srgbClr val="152239"/>
                </a:solidFill>
                <a:latin typeface="Gill Sans MT"/>
                <a:cs typeface="Gill Sans MT"/>
              </a:rPr>
              <a:t> </a:t>
            </a:r>
            <a:r>
              <a:rPr sz="900" b="1" spc="105" dirty="0">
                <a:solidFill>
                  <a:srgbClr val="152239"/>
                </a:solidFill>
                <a:latin typeface="Gill Sans MT"/>
                <a:cs typeface="Gill Sans MT"/>
              </a:rPr>
              <a:t>&amp;</a:t>
            </a:r>
            <a:r>
              <a:rPr sz="900" b="1" spc="114" dirty="0">
                <a:solidFill>
                  <a:srgbClr val="152239"/>
                </a:solidFill>
                <a:latin typeface="Gill Sans MT"/>
                <a:cs typeface="Gill Sans MT"/>
              </a:rPr>
              <a:t> </a:t>
            </a:r>
            <a:r>
              <a:rPr sz="900" b="1" spc="-10" dirty="0">
                <a:solidFill>
                  <a:srgbClr val="152239"/>
                </a:solidFill>
                <a:latin typeface="Gill Sans MT"/>
                <a:cs typeface="Gill Sans MT"/>
              </a:rPr>
              <a:t>NOTES</a:t>
            </a:r>
            <a:endParaRPr sz="900" dirty="0">
              <a:latin typeface="Gill Sans MT"/>
              <a:cs typeface="Gill Sans MT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432003" y="9565192"/>
            <a:ext cx="792480" cy="29209"/>
          </a:xfrm>
          <a:custGeom>
            <a:avLst/>
            <a:gdLst/>
            <a:ahLst/>
            <a:cxnLst/>
            <a:rect l="l" t="t" r="r" b="b"/>
            <a:pathLst>
              <a:path w="792480" h="29209">
                <a:moveTo>
                  <a:pt x="791997" y="0"/>
                </a:moveTo>
                <a:lnTo>
                  <a:pt x="0" y="0"/>
                </a:lnTo>
                <a:lnTo>
                  <a:pt x="0" y="28803"/>
                </a:lnTo>
                <a:lnTo>
                  <a:pt x="791997" y="28803"/>
                </a:lnTo>
                <a:lnTo>
                  <a:pt x="791997" y="0"/>
                </a:lnTo>
                <a:close/>
              </a:path>
            </a:pathLst>
          </a:custGeom>
          <a:solidFill>
            <a:srgbClr val="20C6A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7" name="object 67"/>
          <p:cNvGrpSpPr/>
          <p:nvPr/>
        </p:nvGrpSpPr>
        <p:grpSpPr>
          <a:xfrm>
            <a:off x="0" y="9846002"/>
            <a:ext cx="7560309" cy="846455"/>
            <a:chOff x="0" y="9846002"/>
            <a:chExt cx="7560309" cy="846455"/>
          </a:xfrm>
        </p:grpSpPr>
        <p:sp>
          <p:nvSpPr>
            <p:cNvPr id="68" name="object 68"/>
            <p:cNvSpPr/>
            <p:nvPr/>
          </p:nvSpPr>
          <p:spPr>
            <a:xfrm>
              <a:off x="0" y="9900002"/>
              <a:ext cx="7560309" cy="792480"/>
            </a:xfrm>
            <a:custGeom>
              <a:avLst/>
              <a:gdLst/>
              <a:ahLst/>
              <a:cxnLst/>
              <a:rect l="l" t="t" r="r" b="b"/>
              <a:pathLst>
                <a:path w="7560309" h="792479">
                  <a:moveTo>
                    <a:pt x="7560005" y="0"/>
                  </a:moveTo>
                  <a:lnTo>
                    <a:pt x="0" y="0"/>
                  </a:lnTo>
                  <a:lnTo>
                    <a:pt x="0" y="791997"/>
                  </a:lnTo>
                  <a:lnTo>
                    <a:pt x="7560005" y="791997"/>
                  </a:lnTo>
                  <a:lnTo>
                    <a:pt x="7560005" y="0"/>
                  </a:lnTo>
                  <a:close/>
                </a:path>
              </a:pathLst>
            </a:custGeom>
            <a:solidFill>
              <a:srgbClr val="152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0" y="9846002"/>
              <a:ext cx="7560309" cy="54610"/>
            </a:xfrm>
            <a:custGeom>
              <a:avLst/>
              <a:gdLst/>
              <a:ahLst/>
              <a:cxnLst/>
              <a:rect l="l" t="t" r="r" b="b"/>
              <a:pathLst>
                <a:path w="7560309" h="54609">
                  <a:moveTo>
                    <a:pt x="7560005" y="0"/>
                  </a:moveTo>
                  <a:lnTo>
                    <a:pt x="0" y="0"/>
                  </a:lnTo>
                  <a:lnTo>
                    <a:pt x="0" y="54000"/>
                  </a:lnTo>
                  <a:lnTo>
                    <a:pt x="7560005" y="54000"/>
                  </a:lnTo>
                  <a:lnTo>
                    <a:pt x="7560005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0" name="object 70"/>
          <p:cNvGrpSpPr/>
          <p:nvPr/>
        </p:nvGrpSpPr>
        <p:grpSpPr>
          <a:xfrm>
            <a:off x="-28125" y="-2"/>
            <a:ext cx="7588305" cy="10692523"/>
            <a:chOff x="-28125" y="-2"/>
            <a:chExt cx="7588305" cy="10692523"/>
          </a:xfrm>
        </p:grpSpPr>
        <p:sp>
          <p:nvSpPr>
            <p:cNvPr id="71" name="object 71"/>
            <p:cNvSpPr/>
            <p:nvPr/>
          </p:nvSpPr>
          <p:spPr>
            <a:xfrm>
              <a:off x="0" y="0"/>
              <a:ext cx="720090" cy="3564254"/>
            </a:xfrm>
            <a:custGeom>
              <a:avLst/>
              <a:gdLst/>
              <a:ahLst/>
              <a:cxnLst/>
              <a:rect l="l" t="t" r="r" b="b"/>
              <a:pathLst>
                <a:path w="720090" h="3564254">
                  <a:moveTo>
                    <a:pt x="0" y="3564010"/>
                  </a:moveTo>
                  <a:lnTo>
                    <a:pt x="720003" y="0"/>
                  </a:lnTo>
                </a:path>
              </a:pathLst>
            </a:custGeom>
            <a:ln w="3810">
              <a:solidFill>
                <a:srgbClr val="E8E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0" y="0"/>
              <a:ext cx="1800225" cy="8910320"/>
            </a:xfrm>
            <a:custGeom>
              <a:avLst/>
              <a:gdLst/>
              <a:ahLst/>
              <a:cxnLst/>
              <a:rect l="l" t="t" r="r" b="b"/>
              <a:pathLst>
                <a:path w="1800225" h="8910320">
                  <a:moveTo>
                    <a:pt x="0" y="8909999"/>
                  </a:moveTo>
                  <a:lnTo>
                    <a:pt x="1800002" y="0"/>
                  </a:lnTo>
                </a:path>
              </a:pathLst>
            </a:custGeom>
            <a:ln w="3810">
              <a:solidFill>
                <a:srgbClr val="E8E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19999" y="-2"/>
              <a:ext cx="2160270" cy="10692130"/>
            </a:xfrm>
            <a:custGeom>
              <a:avLst/>
              <a:gdLst/>
              <a:ahLst/>
              <a:cxnLst/>
              <a:rect l="l" t="t" r="r" b="b"/>
              <a:pathLst>
                <a:path w="2160270" h="10692130">
                  <a:moveTo>
                    <a:pt x="0" y="10692003"/>
                  </a:moveTo>
                  <a:lnTo>
                    <a:pt x="2160003" y="0"/>
                  </a:lnTo>
                </a:path>
              </a:pathLst>
            </a:custGeom>
            <a:ln w="3810">
              <a:solidFill>
                <a:srgbClr val="E8E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800000" y="-2"/>
              <a:ext cx="2160270" cy="10692130"/>
            </a:xfrm>
            <a:custGeom>
              <a:avLst/>
              <a:gdLst/>
              <a:ahLst/>
              <a:cxnLst/>
              <a:rect l="l" t="t" r="r" b="b"/>
              <a:pathLst>
                <a:path w="2160270" h="10692130">
                  <a:moveTo>
                    <a:pt x="0" y="10692003"/>
                  </a:moveTo>
                  <a:lnTo>
                    <a:pt x="2160003" y="0"/>
                  </a:lnTo>
                </a:path>
              </a:pathLst>
            </a:custGeom>
            <a:ln w="3810">
              <a:solidFill>
                <a:srgbClr val="E8E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880000" y="-2"/>
              <a:ext cx="2160270" cy="10692130"/>
            </a:xfrm>
            <a:custGeom>
              <a:avLst/>
              <a:gdLst/>
              <a:ahLst/>
              <a:cxnLst/>
              <a:rect l="l" t="t" r="r" b="b"/>
              <a:pathLst>
                <a:path w="2160270" h="10692130">
                  <a:moveTo>
                    <a:pt x="0" y="10692003"/>
                  </a:moveTo>
                  <a:lnTo>
                    <a:pt x="2160003" y="0"/>
                  </a:lnTo>
                </a:path>
              </a:pathLst>
            </a:custGeom>
            <a:ln w="3810">
              <a:solidFill>
                <a:srgbClr val="E8E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959999" y="-2"/>
              <a:ext cx="2160270" cy="10692130"/>
            </a:xfrm>
            <a:custGeom>
              <a:avLst/>
              <a:gdLst/>
              <a:ahLst/>
              <a:cxnLst/>
              <a:rect l="l" t="t" r="r" b="b"/>
              <a:pathLst>
                <a:path w="2160270" h="10692130">
                  <a:moveTo>
                    <a:pt x="0" y="10692003"/>
                  </a:moveTo>
                  <a:lnTo>
                    <a:pt x="2160003" y="0"/>
                  </a:lnTo>
                </a:path>
              </a:pathLst>
            </a:custGeom>
            <a:ln w="3810">
              <a:solidFill>
                <a:srgbClr val="E8E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40000" y="-2"/>
              <a:ext cx="2160270" cy="10692130"/>
            </a:xfrm>
            <a:custGeom>
              <a:avLst/>
              <a:gdLst/>
              <a:ahLst/>
              <a:cxnLst/>
              <a:rect l="l" t="t" r="r" b="b"/>
              <a:pathLst>
                <a:path w="2160270" h="10692130">
                  <a:moveTo>
                    <a:pt x="0" y="10692003"/>
                  </a:moveTo>
                  <a:lnTo>
                    <a:pt x="2160003" y="0"/>
                  </a:lnTo>
                </a:path>
              </a:pathLst>
            </a:custGeom>
            <a:ln w="3810">
              <a:solidFill>
                <a:srgbClr val="E8E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120000" y="3564012"/>
              <a:ext cx="1440180" cy="7128509"/>
            </a:xfrm>
            <a:custGeom>
              <a:avLst/>
              <a:gdLst/>
              <a:ahLst/>
              <a:cxnLst/>
              <a:rect l="l" t="t" r="r" b="b"/>
              <a:pathLst>
                <a:path w="1440179" h="7128509">
                  <a:moveTo>
                    <a:pt x="0" y="7127987"/>
                  </a:moveTo>
                  <a:lnTo>
                    <a:pt x="1439999" y="0"/>
                  </a:lnTo>
                </a:path>
              </a:pathLst>
            </a:custGeom>
            <a:ln w="3809">
              <a:solidFill>
                <a:srgbClr val="E8ED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9" name="object 79"/>
            <p:cNvSpPr/>
            <p:nvPr/>
          </p:nvSpPr>
          <p:spPr>
            <a:xfrm>
              <a:off x="7199999" y="8910001"/>
              <a:ext cx="360045" cy="1782445"/>
            </a:xfrm>
            <a:custGeom>
              <a:avLst/>
              <a:gdLst/>
              <a:ahLst/>
              <a:cxnLst/>
              <a:rect l="l" t="t" r="r" b="b"/>
              <a:pathLst>
                <a:path w="360045" h="1782445">
                  <a:moveTo>
                    <a:pt x="0" y="1781998"/>
                  </a:moveTo>
                  <a:lnTo>
                    <a:pt x="360000" y="0"/>
                  </a:lnTo>
                </a:path>
              </a:pathLst>
            </a:custGeom>
            <a:ln w="3810">
              <a:solidFill>
                <a:srgbClr val="E8E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-28125" y="111044"/>
              <a:ext cx="2501475" cy="1975909"/>
            </a:xfrm>
            <a:prstGeom prst="rect">
              <a:avLst/>
            </a:prstGeom>
          </p:spPr>
        </p:pic>
      </p:grpSp>
      <p:sp>
        <p:nvSpPr>
          <p:cNvPr id="81" name="object 81"/>
          <p:cNvSpPr txBox="1"/>
          <p:nvPr/>
        </p:nvSpPr>
        <p:spPr>
          <a:xfrm>
            <a:off x="222258" y="9124778"/>
            <a:ext cx="4779645" cy="637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5"/>
              </a:lnSpc>
            </a:pPr>
            <a:r>
              <a:rPr sz="900" spc="90" dirty="0">
                <a:solidFill>
                  <a:srgbClr val="6B7180"/>
                </a:solidFill>
                <a:latin typeface="Gill Sans MT"/>
                <a:cs typeface="Gill Sans MT"/>
              </a:rPr>
              <a:t>Accepted:</a:t>
            </a:r>
            <a:r>
              <a:rPr sz="900" spc="50" dirty="0">
                <a:solidFill>
                  <a:srgbClr val="6B7180"/>
                </a:solidFill>
                <a:latin typeface="Gill Sans MT"/>
                <a:cs typeface="Gill Sans MT"/>
              </a:rPr>
              <a:t> </a:t>
            </a:r>
            <a:r>
              <a:rPr sz="900" spc="90" dirty="0">
                <a:solidFill>
                  <a:srgbClr val="6B7180"/>
                </a:solidFill>
                <a:latin typeface="Gill Sans MT"/>
                <a:cs typeface="Gill Sans MT"/>
              </a:rPr>
              <a:t>Cash,</a:t>
            </a:r>
            <a:r>
              <a:rPr sz="900" spc="55" dirty="0">
                <a:solidFill>
                  <a:srgbClr val="6B7180"/>
                </a:solidFill>
                <a:latin typeface="Gill Sans MT"/>
                <a:cs typeface="Gill Sans MT"/>
              </a:rPr>
              <a:t> </a:t>
            </a:r>
            <a:r>
              <a:rPr sz="900" spc="114" dirty="0">
                <a:solidFill>
                  <a:srgbClr val="6B7180"/>
                </a:solidFill>
                <a:latin typeface="Gill Sans MT"/>
                <a:cs typeface="Gill Sans MT"/>
              </a:rPr>
              <a:t>Bank</a:t>
            </a:r>
            <a:r>
              <a:rPr sz="900" spc="50" dirty="0">
                <a:solidFill>
                  <a:srgbClr val="6B7180"/>
                </a:solidFill>
                <a:latin typeface="Gill Sans MT"/>
                <a:cs typeface="Gill Sans MT"/>
              </a:rPr>
              <a:t> </a:t>
            </a:r>
            <a:r>
              <a:rPr sz="900" spc="80" dirty="0">
                <a:solidFill>
                  <a:srgbClr val="6B7180"/>
                </a:solidFill>
                <a:latin typeface="Gill Sans MT"/>
                <a:cs typeface="Gill Sans MT"/>
              </a:rPr>
              <a:t>Transfer,</a:t>
            </a:r>
            <a:r>
              <a:rPr sz="900" spc="55" dirty="0">
                <a:solidFill>
                  <a:srgbClr val="6B7180"/>
                </a:solidFill>
                <a:latin typeface="Gill Sans MT"/>
                <a:cs typeface="Gill Sans MT"/>
              </a:rPr>
              <a:t> </a:t>
            </a:r>
            <a:r>
              <a:rPr sz="900" spc="105" dirty="0">
                <a:solidFill>
                  <a:srgbClr val="6B7180"/>
                </a:solidFill>
                <a:latin typeface="Gill Sans MT"/>
                <a:cs typeface="Gill Sans MT"/>
              </a:rPr>
              <a:t>PayPal,</a:t>
            </a:r>
            <a:r>
              <a:rPr sz="900" spc="50" dirty="0">
                <a:solidFill>
                  <a:srgbClr val="6B7180"/>
                </a:solidFill>
                <a:latin typeface="Gill Sans MT"/>
                <a:cs typeface="Gill Sans MT"/>
              </a:rPr>
              <a:t> </a:t>
            </a:r>
            <a:r>
              <a:rPr sz="900" spc="75" dirty="0">
                <a:solidFill>
                  <a:srgbClr val="6B7180"/>
                </a:solidFill>
                <a:latin typeface="Gill Sans MT"/>
                <a:cs typeface="Gill Sans MT"/>
              </a:rPr>
              <a:t>Revolut.</a:t>
            </a:r>
            <a:endParaRPr sz="900" dirty="0">
              <a:latin typeface="Gill Sans MT"/>
              <a:cs typeface="Gill Sans MT"/>
            </a:endParaRPr>
          </a:p>
          <a:p>
            <a:pPr>
              <a:lnSpc>
                <a:spcPct val="183700"/>
              </a:lnSpc>
            </a:pPr>
            <a:r>
              <a:rPr sz="900" spc="114" dirty="0">
                <a:solidFill>
                  <a:srgbClr val="6B7180"/>
                </a:solidFill>
                <a:latin typeface="Gill Sans MT"/>
                <a:cs typeface="Gill Sans MT"/>
              </a:rPr>
              <a:t>Bank</a:t>
            </a:r>
            <a:r>
              <a:rPr sz="900" spc="45" dirty="0">
                <a:solidFill>
                  <a:srgbClr val="6B7180"/>
                </a:solidFill>
                <a:latin typeface="Gill Sans MT"/>
                <a:cs typeface="Gill Sans MT"/>
              </a:rPr>
              <a:t> </a:t>
            </a:r>
            <a:r>
              <a:rPr sz="900" spc="80" dirty="0">
                <a:solidFill>
                  <a:srgbClr val="6B7180"/>
                </a:solidFill>
                <a:latin typeface="Gill Sans MT"/>
                <a:cs typeface="Gill Sans MT"/>
              </a:rPr>
              <a:t>Transfer:</a:t>
            </a:r>
            <a:r>
              <a:rPr sz="900" spc="50" dirty="0">
                <a:solidFill>
                  <a:srgbClr val="6B7180"/>
                </a:solidFill>
                <a:latin typeface="Gill Sans MT"/>
                <a:cs typeface="Gill Sans MT"/>
              </a:rPr>
              <a:t> </a:t>
            </a:r>
            <a:r>
              <a:rPr sz="900" spc="65" dirty="0">
                <a:solidFill>
                  <a:srgbClr val="6B7180"/>
                </a:solidFill>
                <a:latin typeface="Gill Sans MT"/>
                <a:cs typeface="Gill Sans MT"/>
              </a:rPr>
              <a:t>Sort</a:t>
            </a:r>
            <a:r>
              <a:rPr sz="900" spc="50" dirty="0">
                <a:solidFill>
                  <a:srgbClr val="6B7180"/>
                </a:solidFill>
                <a:latin typeface="Gill Sans MT"/>
                <a:cs typeface="Gill Sans MT"/>
              </a:rPr>
              <a:t> </a:t>
            </a:r>
            <a:r>
              <a:rPr sz="900" spc="65" dirty="0">
                <a:solidFill>
                  <a:srgbClr val="6B7180"/>
                </a:solidFill>
                <a:latin typeface="Gill Sans MT"/>
                <a:cs typeface="Gill Sans MT"/>
              </a:rPr>
              <a:t>Code</a:t>
            </a:r>
            <a:r>
              <a:rPr sz="900" spc="50" dirty="0">
                <a:solidFill>
                  <a:srgbClr val="6B7180"/>
                </a:solidFill>
                <a:latin typeface="Gill Sans MT"/>
                <a:cs typeface="Gill Sans MT"/>
              </a:rPr>
              <a:t> </a:t>
            </a:r>
            <a:r>
              <a:rPr sz="900" spc="95" dirty="0">
                <a:solidFill>
                  <a:srgbClr val="6B7180"/>
                </a:solidFill>
                <a:latin typeface="Gill Sans MT"/>
                <a:cs typeface="Gill Sans MT"/>
              </a:rPr>
              <a:t>00-00-</a:t>
            </a:r>
            <a:r>
              <a:rPr sz="900" spc="105" dirty="0">
                <a:solidFill>
                  <a:srgbClr val="6B7180"/>
                </a:solidFill>
                <a:latin typeface="Gill Sans MT"/>
                <a:cs typeface="Gill Sans MT"/>
              </a:rPr>
              <a:t>00</a:t>
            </a:r>
            <a:r>
              <a:rPr sz="900" spc="345" dirty="0">
                <a:solidFill>
                  <a:srgbClr val="6B7180"/>
                </a:solidFill>
                <a:latin typeface="Gill Sans MT"/>
                <a:cs typeface="Gill Sans MT"/>
              </a:rPr>
              <a:t> </a:t>
            </a:r>
            <a:r>
              <a:rPr sz="900" spc="60" dirty="0">
                <a:solidFill>
                  <a:srgbClr val="6B7180"/>
                </a:solidFill>
                <a:latin typeface="Gill Sans MT"/>
                <a:cs typeface="Gill Sans MT"/>
              </a:rPr>
              <a:t>|</a:t>
            </a:r>
            <a:r>
              <a:rPr sz="900" spc="350" dirty="0">
                <a:solidFill>
                  <a:srgbClr val="6B7180"/>
                </a:solidFill>
                <a:latin typeface="Gill Sans MT"/>
                <a:cs typeface="Gill Sans MT"/>
              </a:rPr>
              <a:t> </a:t>
            </a:r>
            <a:r>
              <a:rPr sz="900" spc="75" dirty="0">
                <a:solidFill>
                  <a:srgbClr val="6B7180"/>
                </a:solidFill>
                <a:latin typeface="Gill Sans MT"/>
                <a:cs typeface="Gill Sans MT"/>
              </a:rPr>
              <a:t>Account</a:t>
            </a:r>
            <a:r>
              <a:rPr sz="900" spc="50" dirty="0">
                <a:solidFill>
                  <a:srgbClr val="6B7180"/>
                </a:solidFill>
                <a:latin typeface="Gill Sans MT"/>
                <a:cs typeface="Gill Sans MT"/>
              </a:rPr>
              <a:t> </a:t>
            </a:r>
            <a:r>
              <a:rPr sz="900" dirty="0">
                <a:solidFill>
                  <a:srgbClr val="6B7180"/>
                </a:solidFill>
                <a:latin typeface="Gill Sans MT"/>
                <a:cs typeface="Gill Sans MT"/>
              </a:rPr>
              <a:t>No:</a:t>
            </a:r>
            <a:r>
              <a:rPr sz="900" spc="45" dirty="0">
                <a:solidFill>
                  <a:srgbClr val="6B7180"/>
                </a:solidFill>
                <a:latin typeface="Gill Sans MT"/>
                <a:cs typeface="Gill Sans MT"/>
              </a:rPr>
              <a:t> </a:t>
            </a:r>
            <a:r>
              <a:rPr sz="900" spc="120" dirty="0">
                <a:solidFill>
                  <a:srgbClr val="6B7180"/>
                </a:solidFill>
                <a:latin typeface="Gill Sans MT"/>
                <a:cs typeface="Gill Sans MT"/>
              </a:rPr>
              <a:t>00000000</a:t>
            </a:r>
            <a:r>
              <a:rPr sz="900" spc="350" dirty="0">
                <a:solidFill>
                  <a:srgbClr val="6B7180"/>
                </a:solidFill>
                <a:latin typeface="Gill Sans MT"/>
                <a:cs typeface="Gill Sans MT"/>
              </a:rPr>
              <a:t> </a:t>
            </a:r>
            <a:r>
              <a:rPr sz="900" spc="60" dirty="0">
                <a:solidFill>
                  <a:srgbClr val="6B7180"/>
                </a:solidFill>
                <a:latin typeface="Gill Sans MT"/>
                <a:cs typeface="Gill Sans MT"/>
              </a:rPr>
              <a:t>|</a:t>
            </a:r>
            <a:r>
              <a:rPr sz="900" spc="350" dirty="0">
                <a:solidFill>
                  <a:srgbClr val="6B7180"/>
                </a:solidFill>
                <a:latin typeface="Gill Sans MT"/>
                <a:cs typeface="Gill Sans MT"/>
              </a:rPr>
              <a:t> </a:t>
            </a:r>
            <a:r>
              <a:rPr sz="900" spc="100" dirty="0">
                <a:solidFill>
                  <a:srgbClr val="6B7180"/>
                </a:solidFill>
                <a:latin typeface="Gill Sans MT"/>
                <a:cs typeface="Gill Sans MT"/>
              </a:rPr>
              <a:t>Ref:</a:t>
            </a:r>
            <a:r>
              <a:rPr sz="900" spc="45" dirty="0">
                <a:solidFill>
                  <a:srgbClr val="6B7180"/>
                </a:solidFill>
                <a:latin typeface="Gill Sans MT"/>
                <a:cs typeface="Gill Sans MT"/>
              </a:rPr>
              <a:t> </a:t>
            </a:r>
            <a:r>
              <a:rPr sz="900" spc="90" dirty="0">
                <a:solidFill>
                  <a:srgbClr val="6B7180"/>
                </a:solidFill>
                <a:latin typeface="Gill Sans MT"/>
                <a:cs typeface="Gill Sans MT"/>
              </a:rPr>
              <a:t>AGU-</a:t>
            </a:r>
            <a:r>
              <a:rPr sz="900" spc="70" dirty="0">
                <a:solidFill>
                  <a:srgbClr val="6B7180"/>
                </a:solidFill>
                <a:latin typeface="Gill Sans MT"/>
                <a:cs typeface="Gill Sans MT"/>
              </a:rPr>
              <a:t>2026-</a:t>
            </a:r>
            <a:r>
              <a:rPr sz="900" spc="50" dirty="0">
                <a:solidFill>
                  <a:srgbClr val="6B7180"/>
                </a:solidFill>
                <a:latin typeface="Gill Sans MT"/>
                <a:cs typeface="Gill Sans MT"/>
              </a:rPr>
              <a:t>001 </a:t>
            </a:r>
            <a:r>
              <a:rPr sz="900" dirty="0">
                <a:solidFill>
                  <a:srgbClr val="6B7180"/>
                </a:solidFill>
                <a:latin typeface="Gill Sans MT"/>
                <a:cs typeface="Gill Sans MT"/>
              </a:rPr>
              <a:t>For</a:t>
            </a:r>
            <a:r>
              <a:rPr sz="900" spc="60" dirty="0">
                <a:solidFill>
                  <a:srgbClr val="6B7180"/>
                </a:solidFill>
                <a:latin typeface="Gill Sans MT"/>
                <a:cs typeface="Gill Sans MT"/>
              </a:rPr>
              <a:t> </a:t>
            </a:r>
            <a:r>
              <a:rPr sz="900" spc="95" dirty="0">
                <a:solidFill>
                  <a:srgbClr val="6B7180"/>
                </a:solidFill>
                <a:latin typeface="Gill Sans MT"/>
                <a:cs typeface="Gill Sans MT"/>
              </a:rPr>
              <a:t>queries:</a:t>
            </a:r>
            <a:r>
              <a:rPr sz="900" spc="65" dirty="0">
                <a:solidFill>
                  <a:srgbClr val="6B7180"/>
                </a:solidFill>
                <a:latin typeface="Gill Sans MT"/>
                <a:cs typeface="Gill Sans MT"/>
              </a:rPr>
              <a:t> </a:t>
            </a:r>
            <a:r>
              <a:rPr sz="900" spc="120" dirty="0">
                <a:solidFill>
                  <a:srgbClr val="6B7180"/>
                </a:solidFill>
                <a:latin typeface="Gill Sans MT"/>
                <a:cs typeface="Gill Sans MT"/>
              </a:rPr>
              <a:t>07448738971</a:t>
            </a:r>
            <a:r>
              <a:rPr sz="900" spc="380" dirty="0">
                <a:solidFill>
                  <a:srgbClr val="6B7180"/>
                </a:solidFill>
                <a:latin typeface="Gill Sans MT"/>
                <a:cs typeface="Gill Sans MT"/>
              </a:rPr>
              <a:t> </a:t>
            </a:r>
            <a:r>
              <a:rPr sz="900" spc="60" dirty="0">
                <a:solidFill>
                  <a:srgbClr val="6B7180"/>
                </a:solidFill>
                <a:latin typeface="Gill Sans MT"/>
                <a:cs typeface="Gill Sans MT"/>
              </a:rPr>
              <a:t>|</a:t>
            </a:r>
            <a:r>
              <a:rPr sz="900" spc="380" dirty="0">
                <a:solidFill>
                  <a:srgbClr val="6B7180"/>
                </a:solidFill>
                <a:latin typeface="Gill Sans MT"/>
                <a:cs typeface="Gill Sans MT"/>
              </a:rPr>
              <a:t> </a:t>
            </a:r>
            <a:r>
              <a:rPr sz="900" spc="95" dirty="0">
                <a:solidFill>
                  <a:srgbClr val="6B7180"/>
                </a:solidFill>
                <a:latin typeface="Gill Sans MT"/>
                <a:cs typeface="Gill Sans MT"/>
                <a:hlinkClick r:id="rId2"/>
              </a:rPr>
              <a:t>agucleanservices@gmail.com</a:t>
            </a:r>
            <a:endParaRPr sz="900" dirty="0">
              <a:latin typeface="Gill Sans MT"/>
              <a:cs typeface="Gill Sans MT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dt" sz="half" idx="6"/>
          </p:nvPr>
        </p:nvSpPr>
        <p:spPr>
          <a:xfrm>
            <a:off x="196850" y="8873012"/>
            <a:ext cx="2573655" cy="142988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20" dirty="0"/>
              <a:t>Payment</a:t>
            </a:r>
            <a:r>
              <a:rPr spc="45" dirty="0"/>
              <a:t> </a:t>
            </a:r>
            <a:r>
              <a:rPr spc="114" dirty="0"/>
              <a:t>due</a:t>
            </a:r>
            <a:r>
              <a:rPr spc="45" dirty="0"/>
              <a:t> </a:t>
            </a:r>
            <a:r>
              <a:rPr spc="75" dirty="0"/>
              <a:t>within</a:t>
            </a:r>
            <a:r>
              <a:rPr spc="45" dirty="0"/>
              <a:t> </a:t>
            </a:r>
            <a:r>
              <a:rPr lang="en-GB" spc="120" dirty="0"/>
              <a:t>5</a:t>
            </a:r>
            <a:r>
              <a:rPr spc="45" dirty="0"/>
              <a:t> </a:t>
            </a:r>
            <a:r>
              <a:rPr spc="125" dirty="0"/>
              <a:t>days</a:t>
            </a:r>
            <a:r>
              <a:rPr spc="45" dirty="0"/>
              <a:t> </a:t>
            </a:r>
            <a:r>
              <a:rPr spc="65" dirty="0"/>
              <a:t>of</a:t>
            </a:r>
            <a:r>
              <a:rPr spc="45" dirty="0"/>
              <a:t> </a:t>
            </a:r>
            <a:r>
              <a:rPr spc="85" dirty="0"/>
              <a:t>invoice</a:t>
            </a:r>
            <a:r>
              <a:rPr spc="45" dirty="0"/>
              <a:t> </a:t>
            </a:r>
            <a:r>
              <a:rPr spc="95" dirty="0"/>
              <a:t>date.</a:t>
            </a:r>
          </a:p>
        </p:txBody>
      </p:sp>
      <p:sp>
        <p:nvSpPr>
          <p:cNvPr id="83" name="object 83"/>
          <p:cNvSpPr txBox="1"/>
          <p:nvPr/>
        </p:nvSpPr>
        <p:spPr>
          <a:xfrm>
            <a:off x="1756854" y="10033199"/>
            <a:ext cx="4046854" cy="37147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900" b="1" dirty="0">
                <a:solidFill>
                  <a:srgbClr val="FFFFFF"/>
                </a:solidFill>
                <a:latin typeface="Gill Sans MT"/>
                <a:cs typeface="Gill Sans MT"/>
              </a:rPr>
              <a:t>AGU</a:t>
            </a:r>
            <a:r>
              <a:rPr sz="900" b="1" spc="6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900" b="1" spc="70" dirty="0">
                <a:solidFill>
                  <a:srgbClr val="FFFFFF"/>
                </a:solidFill>
                <a:latin typeface="Gill Sans MT"/>
                <a:cs typeface="Gill Sans MT"/>
              </a:rPr>
              <a:t>Clean</a:t>
            </a:r>
            <a:r>
              <a:rPr sz="900" b="1" spc="6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900" b="1" spc="95" dirty="0">
                <a:solidFill>
                  <a:srgbClr val="FFFFFF"/>
                </a:solidFill>
                <a:latin typeface="Gill Sans MT"/>
                <a:cs typeface="Gill Sans MT"/>
              </a:rPr>
              <a:t>Services</a:t>
            </a:r>
            <a:r>
              <a:rPr sz="900" b="1" spc="38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900" b="1" spc="75" dirty="0">
                <a:solidFill>
                  <a:srgbClr val="FFFFFF"/>
                </a:solidFill>
                <a:latin typeface="Gill Sans MT"/>
                <a:cs typeface="Gill Sans MT"/>
              </a:rPr>
              <a:t>|</a:t>
            </a:r>
            <a:r>
              <a:rPr sz="900" b="1" spc="38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900" b="1" spc="95" dirty="0">
                <a:solidFill>
                  <a:srgbClr val="FFFFFF"/>
                </a:solidFill>
                <a:latin typeface="Gill Sans MT"/>
                <a:cs typeface="Gill Sans MT"/>
              </a:rPr>
              <a:t>Agnieszka</a:t>
            </a:r>
            <a:r>
              <a:rPr sz="900" b="1" spc="6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900" b="1" spc="85" dirty="0">
                <a:solidFill>
                  <a:srgbClr val="FFFFFF"/>
                </a:solidFill>
                <a:latin typeface="Gill Sans MT"/>
                <a:cs typeface="Gill Sans MT"/>
              </a:rPr>
              <a:t>Kalina</a:t>
            </a:r>
            <a:r>
              <a:rPr sz="900" b="1" spc="6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900" b="1" spc="95" dirty="0">
                <a:solidFill>
                  <a:srgbClr val="FFFFFF"/>
                </a:solidFill>
                <a:latin typeface="Gill Sans MT"/>
                <a:cs typeface="Gill Sans MT"/>
              </a:rPr>
              <a:t>vel</a:t>
            </a:r>
            <a:r>
              <a:rPr sz="900" b="1" spc="6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900" b="1" spc="85" dirty="0">
                <a:solidFill>
                  <a:srgbClr val="FFFFFF"/>
                </a:solidFill>
                <a:latin typeface="Gill Sans MT"/>
                <a:cs typeface="Gill Sans MT"/>
              </a:rPr>
              <a:t>Kalinowska</a:t>
            </a:r>
            <a:endParaRPr sz="900" dirty="0">
              <a:latin typeface="Gill Sans MT"/>
              <a:cs typeface="Gill Sans MT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800" spc="105" dirty="0">
                <a:solidFill>
                  <a:srgbClr val="AFBDC5"/>
                </a:solidFill>
                <a:latin typeface="Gill Sans MT"/>
                <a:cs typeface="Gill Sans MT"/>
              </a:rPr>
              <a:t>07448738971</a:t>
            </a:r>
            <a:r>
              <a:rPr sz="800" spc="305" dirty="0">
                <a:solidFill>
                  <a:srgbClr val="AFBDC5"/>
                </a:solidFill>
                <a:latin typeface="Gill Sans MT"/>
                <a:cs typeface="Gill Sans MT"/>
              </a:rPr>
              <a:t> </a:t>
            </a:r>
            <a:r>
              <a:rPr sz="800" spc="55" dirty="0">
                <a:solidFill>
                  <a:srgbClr val="AFBDC5"/>
                </a:solidFill>
                <a:latin typeface="Gill Sans MT"/>
                <a:cs typeface="Gill Sans MT"/>
              </a:rPr>
              <a:t>|</a:t>
            </a:r>
            <a:r>
              <a:rPr sz="800" spc="305" dirty="0">
                <a:solidFill>
                  <a:srgbClr val="AFBDC5"/>
                </a:solidFill>
                <a:latin typeface="Gill Sans MT"/>
                <a:cs typeface="Gill Sans MT"/>
              </a:rPr>
              <a:t> </a:t>
            </a:r>
            <a:r>
              <a:rPr sz="800" spc="95" dirty="0">
                <a:solidFill>
                  <a:srgbClr val="AFBDC5"/>
                </a:solidFill>
                <a:latin typeface="Gill Sans MT"/>
                <a:cs typeface="Gill Sans MT"/>
                <a:hlinkClick r:id="rId2"/>
              </a:rPr>
              <a:t>agucleanservices@gmail.com</a:t>
            </a:r>
            <a:r>
              <a:rPr sz="800" spc="305" dirty="0">
                <a:solidFill>
                  <a:srgbClr val="AFBDC5"/>
                </a:solidFill>
                <a:latin typeface="Gill Sans MT"/>
                <a:cs typeface="Gill Sans MT"/>
              </a:rPr>
              <a:t> </a:t>
            </a:r>
            <a:r>
              <a:rPr sz="800" spc="55" dirty="0">
                <a:solidFill>
                  <a:srgbClr val="AFBDC5"/>
                </a:solidFill>
                <a:latin typeface="Gill Sans MT"/>
                <a:cs typeface="Gill Sans MT"/>
              </a:rPr>
              <a:t>|</a:t>
            </a:r>
            <a:r>
              <a:rPr sz="800" spc="305" dirty="0">
                <a:solidFill>
                  <a:srgbClr val="AFBDC5"/>
                </a:solidFill>
                <a:latin typeface="Gill Sans MT"/>
                <a:cs typeface="Gill Sans MT"/>
              </a:rPr>
              <a:t> </a:t>
            </a:r>
            <a:r>
              <a:rPr sz="800" spc="80" dirty="0">
                <a:solidFill>
                  <a:srgbClr val="AFBDC5"/>
                </a:solidFill>
                <a:latin typeface="Gill Sans MT"/>
                <a:cs typeface="Gill Sans MT"/>
                <a:hlinkClick r:id="rId3"/>
              </a:rPr>
              <a:t>www.agucleanservices.co.uk</a:t>
            </a:r>
            <a:endParaRPr sz="800" dirty="0">
              <a:latin typeface="Gill Sans MT"/>
              <a:cs typeface="Gill Sans MT"/>
            </a:endParaRPr>
          </a:p>
        </p:txBody>
      </p:sp>
      <p:sp>
        <p:nvSpPr>
          <p:cNvPr id="84" name="object 8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Newcastle</a:t>
            </a:r>
            <a:r>
              <a:rPr spc="285" dirty="0"/>
              <a:t> </a:t>
            </a:r>
            <a:r>
              <a:rPr spc="50" dirty="0"/>
              <a:t>|</a:t>
            </a:r>
            <a:r>
              <a:rPr spc="285" dirty="0"/>
              <a:t> </a:t>
            </a:r>
            <a:r>
              <a:rPr spc="85" dirty="0"/>
              <a:t>Gateshead</a:t>
            </a:r>
            <a:r>
              <a:rPr spc="285" dirty="0"/>
              <a:t> </a:t>
            </a:r>
            <a:r>
              <a:rPr spc="50" dirty="0"/>
              <a:t>|</a:t>
            </a:r>
            <a:r>
              <a:rPr spc="285" dirty="0"/>
              <a:t> </a:t>
            </a:r>
            <a:r>
              <a:rPr spc="65" dirty="0"/>
              <a:t>Chester-</a:t>
            </a:r>
            <a:r>
              <a:rPr spc="50" dirty="0"/>
              <a:t>le-</a:t>
            </a:r>
            <a:r>
              <a:rPr spc="60" dirty="0"/>
              <a:t>Street</a:t>
            </a:r>
            <a:r>
              <a:rPr spc="285" dirty="0"/>
              <a:t> </a:t>
            </a:r>
            <a:r>
              <a:rPr spc="50" dirty="0"/>
              <a:t>|</a:t>
            </a:r>
            <a:r>
              <a:rPr spc="285" dirty="0"/>
              <a:t> </a:t>
            </a:r>
            <a:r>
              <a:rPr spc="70" dirty="0"/>
              <a:t>Durham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259</Words>
  <Application>Microsoft Office PowerPoint</Application>
  <PresentationFormat>Custom</PresentationFormat>
  <Paragraphs>63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Calibri</vt:lpstr>
      <vt:lpstr>Gill Sans MT</vt:lpstr>
      <vt:lpstr>Trebuchet MS</vt:lpstr>
      <vt:lpstr>Office Theme</vt:lpstr>
      <vt:lpstr>AGU Clean Services INVOICE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unspecified</dc:subject>
  <dc:creator>anonymous</dc:creator>
  <cp:lastModifiedBy>Katarzyna Kalina vel Kalinowska</cp:lastModifiedBy>
  <cp:revision>5</cp:revision>
  <cp:lastPrinted>2026-07-03T13:05:48Z</cp:lastPrinted>
  <dcterms:created xsi:type="dcterms:W3CDTF">2026-07-03T11:16:32Z</dcterms:created>
  <dcterms:modified xsi:type="dcterms:W3CDTF">2026-07-03T13:09:31Z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2026-07-03T00:00:00Z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2026-07-03T00:00:00Z</vt:filetime>
  </property>
  <property fmtid="{D5CDD505-2E9C-101B-9397-08002B2CF9AE}" pid="5" name="Producer">
    <vt:lpwstr>ReportLab PDF Library - (opensource)</vt:lpwstr>
  </property>
</Properties>
</file>